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7448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Fill in the project title, team name, one-line pitch, your track, and every member's name and registration number. Delete the four tracks you are not competing on so only your track is left. Do not change the layout, colours or logos.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of your pitch. One clear paragraph. The four prompts below the box are what a judge will look for inside your answer — you do not need to answer them separately.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of your pitch. Be concrete. Avoid phrases like "AI-powered platform" — say what it does and for whom.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of your pitch. The diagram carries this slide — draw it even if it is rough. Name real services and models, not categories.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of your pitch. Judges reward honesty. Name the limitation before they find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of your pitch. Replace 00% with your headline figure and say how you measured it. An estimate is fine if you show the working.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of your pitch. Uncredited work is disqualifying. List everything you leaned on and be clear about what you wrote yourselves.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1B"/>
        </a:solidFill>
        <a:effectLst/>
      </p:bgPr>
    </p:bg>
    <p:spTree>
      <p:nvGrpSpPr>
        <p:cNvPr id="1" name=""/>
        <p:cNvGrpSpPr/>
        <p:nvPr/>
      </p:nvGrpSpPr>
      <p:grpSpPr>
        <a:xfrm>
          <a:off x="0" y="0"/>
          <a:ext cx="0" cy="0"/>
          <a:chOff x="0" y="0"/>
          <a:chExt cx="0" cy="0"/>
        </a:xfrm>
      </p:grpSpPr>
      <p:sp>
        <p:nvSpPr>
          <p:cNvPr id="2" name="Shape 0"/>
          <p:cNvSpPr/>
          <p:nvPr/>
        </p:nvSpPr>
        <p:spPr>
          <a:xfrm>
            <a:off x="502920" y="0"/>
            <a:ext cx="0" cy="6858000"/>
          </a:xfrm>
          <a:prstGeom prst="line">
            <a:avLst/>
          </a:prstGeom>
          <a:noFill/>
          <a:ln w="6350">
            <a:solidFill>
              <a:srgbClr val="1A2331"/>
            </a:solidFill>
            <a:prstDash val="solid"/>
          </a:ln>
        </p:spPr>
        <p:txBody>
          <a:bodyPr/>
          <a:lstStyle/>
          <a:p>
            <a:endParaRPr lang="en-IN"/>
          </a:p>
        </p:txBody>
      </p:sp>
      <p:sp>
        <p:nvSpPr>
          <p:cNvPr id="3" name="Shape 1"/>
          <p:cNvSpPr/>
          <p:nvPr/>
        </p:nvSpPr>
        <p:spPr>
          <a:xfrm>
            <a:off x="1005840" y="0"/>
            <a:ext cx="0" cy="6858000"/>
          </a:xfrm>
          <a:prstGeom prst="line">
            <a:avLst/>
          </a:prstGeom>
          <a:noFill/>
          <a:ln w="6350">
            <a:solidFill>
              <a:srgbClr val="1A2331"/>
            </a:solidFill>
            <a:prstDash val="solid"/>
          </a:ln>
        </p:spPr>
        <p:txBody>
          <a:bodyPr/>
          <a:lstStyle/>
          <a:p>
            <a:endParaRPr lang="en-IN"/>
          </a:p>
        </p:txBody>
      </p:sp>
      <p:sp>
        <p:nvSpPr>
          <p:cNvPr id="4" name="Shape 2"/>
          <p:cNvSpPr/>
          <p:nvPr/>
        </p:nvSpPr>
        <p:spPr>
          <a:xfrm>
            <a:off x="1508760" y="0"/>
            <a:ext cx="0" cy="6858000"/>
          </a:xfrm>
          <a:prstGeom prst="line">
            <a:avLst/>
          </a:prstGeom>
          <a:noFill/>
          <a:ln w="6350">
            <a:solidFill>
              <a:srgbClr val="1A2331"/>
            </a:solidFill>
            <a:prstDash val="solid"/>
          </a:ln>
        </p:spPr>
        <p:txBody>
          <a:bodyPr/>
          <a:lstStyle/>
          <a:p>
            <a:endParaRPr lang="en-IN"/>
          </a:p>
        </p:txBody>
      </p:sp>
      <p:sp>
        <p:nvSpPr>
          <p:cNvPr id="5" name="Shape 3"/>
          <p:cNvSpPr/>
          <p:nvPr/>
        </p:nvSpPr>
        <p:spPr>
          <a:xfrm>
            <a:off x="2011680" y="0"/>
            <a:ext cx="0" cy="6858000"/>
          </a:xfrm>
          <a:prstGeom prst="line">
            <a:avLst/>
          </a:prstGeom>
          <a:noFill/>
          <a:ln w="6350">
            <a:solidFill>
              <a:srgbClr val="1A2331"/>
            </a:solidFill>
            <a:prstDash val="solid"/>
          </a:ln>
        </p:spPr>
        <p:txBody>
          <a:bodyPr/>
          <a:lstStyle/>
          <a:p>
            <a:endParaRPr lang="en-IN"/>
          </a:p>
        </p:txBody>
      </p:sp>
      <p:sp>
        <p:nvSpPr>
          <p:cNvPr id="6" name="Shape 4"/>
          <p:cNvSpPr/>
          <p:nvPr/>
        </p:nvSpPr>
        <p:spPr>
          <a:xfrm>
            <a:off x="2514600" y="0"/>
            <a:ext cx="0" cy="6858000"/>
          </a:xfrm>
          <a:prstGeom prst="line">
            <a:avLst/>
          </a:prstGeom>
          <a:noFill/>
          <a:ln w="6350">
            <a:solidFill>
              <a:srgbClr val="1A2331"/>
            </a:solidFill>
            <a:prstDash val="solid"/>
          </a:ln>
        </p:spPr>
        <p:txBody>
          <a:bodyPr/>
          <a:lstStyle/>
          <a:p>
            <a:endParaRPr lang="en-IN"/>
          </a:p>
        </p:txBody>
      </p:sp>
      <p:sp>
        <p:nvSpPr>
          <p:cNvPr id="7" name="Shape 5"/>
          <p:cNvSpPr/>
          <p:nvPr/>
        </p:nvSpPr>
        <p:spPr>
          <a:xfrm>
            <a:off x="3017520" y="0"/>
            <a:ext cx="0" cy="6858000"/>
          </a:xfrm>
          <a:prstGeom prst="line">
            <a:avLst/>
          </a:prstGeom>
          <a:noFill/>
          <a:ln w="6350">
            <a:solidFill>
              <a:srgbClr val="1A2331"/>
            </a:solidFill>
            <a:prstDash val="solid"/>
          </a:ln>
        </p:spPr>
        <p:txBody>
          <a:bodyPr/>
          <a:lstStyle/>
          <a:p>
            <a:endParaRPr lang="en-IN"/>
          </a:p>
        </p:txBody>
      </p:sp>
      <p:sp>
        <p:nvSpPr>
          <p:cNvPr id="8" name="Shape 6"/>
          <p:cNvSpPr/>
          <p:nvPr/>
        </p:nvSpPr>
        <p:spPr>
          <a:xfrm>
            <a:off x="3520440" y="0"/>
            <a:ext cx="0" cy="6858000"/>
          </a:xfrm>
          <a:prstGeom prst="line">
            <a:avLst/>
          </a:prstGeom>
          <a:noFill/>
          <a:ln w="6350">
            <a:solidFill>
              <a:srgbClr val="1A2331"/>
            </a:solidFill>
            <a:prstDash val="solid"/>
          </a:ln>
        </p:spPr>
        <p:txBody>
          <a:bodyPr/>
          <a:lstStyle/>
          <a:p>
            <a:endParaRPr lang="en-IN"/>
          </a:p>
        </p:txBody>
      </p:sp>
      <p:sp>
        <p:nvSpPr>
          <p:cNvPr id="9" name="Shape 7"/>
          <p:cNvSpPr/>
          <p:nvPr/>
        </p:nvSpPr>
        <p:spPr>
          <a:xfrm>
            <a:off x="4023360" y="0"/>
            <a:ext cx="0" cy="6858000"/>
          </a:xfrm>
          <a:prstGeom prst="line">
            <a:avLst/>
          </a:prstGeom>
          <a:noFill/>
          <a:ln w="6350">
            <a:solidFill>
              <a:srgbClr val="1A2331"/>
            </a:solidFill>
            <a:prstDash val="solid"/>
          </a:ln>
        </p:spPr>
        <p:txBody>
          <a:bodyPr/>
          <a:lstStyle/>
          <a:p>
            <a:endParaRPr lang="en-IN"/>
          </a:p>
        </p:txBody>
      </p:sp>
      <p:sp>
        <p:nvSpPr>
          <p:cNvPr id="10" name="Shape 8"/>
          <p:cNvSpPr/>
          <p:nvPr/>
        </p:nvSpPr>
        <p:spPr>
          <a:xfrm>
            <a:off x="4526280" y="0"/>
            <a:ext cx="0" cy="6858000"/>
          </a:xfrm>
          <a:prstGeom prst="line">
            <a:avLst/>
          </a:prstGeom>
          <a:noFill/>
          <a:ln w="6350">
            <a:solidFill>
              <a:srgbClr val="1A2331"/>
            </a:solidFill>
            <a:prstDash val="solid"/>
          </a:ln>
        </p:spPr>
        <p:txBody>
          <a:bodyPr/>
          <a:lstStyle/>
          <a:p>
            <a:endParaRPr lang="en-IN"/>
          </a:p>
        </p:txBody>
      </p:sp>
      <p:sp>
        <p:nvSpPr>
          <p:cNvPr id="11" name="Shape 9"/>
          <p:cNvSpPr/>
          <p:nvPr/>
        </p:nvSpPr>
        <p:spPr>
          <a:xfrm>
            <a:off x="5029200" y="0"/>
            <a:ext cx="0" cy="6858000"/>
          </a:xfrm>
          <a:prstGeom prst="line">
            <a:avLst/>
          </a:prstGeom>
          <a:noFill/>
          <a:ln w="6350">
            <a:solidFill>
              <a:srgbClr val="1A2331"/>
            </a:solidFill>
            <a:prstDash val="solid"/>
          </a:ln>
        </p:spPr>
        <p:txBody>
          <a:bodyPr/>
          <a:lstStyle/>
          <a:p>
            <a:endParaRPr lang="en-IN"/>
          </a:p>
        </p:txBody>
      </p:sp>
      <p:sp>
        <p:nvSpPr>
          <p:cNvPr id="12" name="Shape 10"/>
          <p:cNvSpPr/>
          <p:nvPr/>
        </p:nvSpPr>
        <p:spPr>
          <a:xfrm>
            <a:off x="5532120" y="0"/>
            <a:ext cx="0" cy="6858000"/>
          </a:xfrm>
          <a:prstGeom prst="line">
            <a:avLst/>
          </a:prstGeom>
          <a:noFill/>
          <a:ln w="6350">
            <a:solidFill>
              <a:srgbClr val="1A2331"/>
            </a:solidFill>
            <a:prstDash val="solid"/>
          </a:ln>
        </p:spPr>
        <p:txBody>
          <a:bodyPr/>
          <a:lstStyle/>
          <a:p>
            <a:endParaRPr lang="en-IN"/>
          </a:p>
        </p:txBody>
      </p:sp>
      <p:sp>
        <p:nvSpPr>
          <p:cNvPr id="13" name="Shape 11"/>
          <p:cNvSpPr/>
          <p:nvPr/>
        </p:nvSpPr>
        <p:spPr>
          <a:xfrm>
            <a:off x="6035040" y="0"/>
            <a:ext cx="0" cy="6858000"/>
          </a:xfrm>
          <a:prstGeom prst="line">
            <a:avLst/>
          </a:prstGeom>
          <a:noFill/>
          <a:ln w="6350">
            <a:solidFill>
              <a:srgbClr val="1A2331"/>
            </a:solidFill>
            <a:prstDash val="solid"/>
          </a:ln>
        </p:spPr>
        <p:txBody>
          <a:bodyPr/>
          <a:lstStyle/>
          <a:p>
            <a:endParaRPr lang="en-IN"/>
          </a:p>
        </p:txBody>
      </p:sp>
      <p:sp>
        <p:nvSpPr>
          <p:cNvPr id="14" name="Shape 12"/>
          <p:cNvSpPr/>
          <p:nvPr/>
        </p:nvSpPr>
        <p:spPr>
          <a:xfrm>
            <a:off x="6537960" y="0"/>
            <a:ext cx="0" cy="6858000"/>
          </a:xfrm>
          <a:prstGeom prst="line">
            <a:avLst/>
          </a:prstGeom>
          <a:noFill/>
          <a:ln w="6350">
            <a:solidFill>
              <a:srgbClr val="1A2331"/>
            </a:solidFill>
            <a:prstDash val="solid"/>
          </a:ln>
        </p:spPr>
        <p:txBody>
          <a:bodyPr/>
          <a:lstStyle/>
          <a:p>
            <a:endParaRPr lang="en-IN"/>
          </a:p>
        </p:txBody>
      </p:sp>
      <p:sp>
        <p:nvSpPr>
          <p:cNvPr id="15" name="Shape 13"/>
          <p:cNvSpPr/>
          <p:nvPr/>
        </p:nvSpPr>
        <p:spPr>
          <a:xfrm>
            <a:off x="7040880" y="0"/>
            <a:ext cx="0" cy="6858000"/>
          </a:xfrm>
          <a:prstGeom prst="line">
            <a:avLst/>
          </a:prstGeom>
          <a:noFill/>
          <a:ln w="6350">
            <a:solidFill>
              <a:srgbClr val="1A2331"/>
            </a:solidFill>
            <a:prstDash val="solid"/>
          </a:ln>
        </p:spPr>
        <p:txBody>
          <a:bodyPr/>
          <a:lstStyle/>
          <a:p>
            <a:endParaRPr lang="en-IN"/>
          </a:p>
        </p:txBody>
      </p:sp>
      <p:sp>
        <p:nvSpPr>
          <p:cNvPr id="16" name="Shape 14"/>
          <p:cNvSpPr/>
          <p:nvPr/>
        </p:nvSpPr>
        <p:spPr>
          <a:xfrm>
            <a:off x="7543800" y="0"/>
            <a:ext cx="0" cy="6858000"/>
          </a:xfrm>
          <a:prstGeom prst="line">
            <a:avLst/>
          </a:prstGeom>
          <a:noFill/>
          <a:ln w="6350">
            <a:solidFill>
              <a:srgbClr val="1A2331"/>
            </a:solidFill>
            <a:prstDash val="solid"/>
          </a:ln>
        </p:spPr>
        <p:txBody>
          <a:bodyPr/>
          <a:lstStyle/>
          <a:p>
            <a:endParaRPr lang="en-IN"/>
          </a:p>
        </p:txBody>
      </p:sp>
      <p:sp>
        <p:nvSpPr>
          <p:cNvPr id="17" name="Shape 15"/>
          <p:cNvSpPr/>
          <p:nvPr/>
        </p:nvSpPr>
        <p:spPr>
          <a:xfrm>
            <a:off x="8046720" y="0"/>
            <a:ext cx="0" cy="6858000"/>
          </a:xfrm>
          <a:prstGeom prst="line">
            <a:avLst/>
          </a:prstGeom>
          <a:noFill/>
          <a:ln w="6350">
            <a:solidFill>
              <a:srgbClr val="1A2331"/>
            </a:solidFill>
            <a:prstDash val="solid"/>
          </a:ln>
        </p:spPr>
        <p:txBody>
          <a:bodyPr/>
          <a:lstStyle/>
          <a:p>
            <a:endParaRPr lang="en-IN"/>
          </a:p>
        </p:txBody>
      </p:sp>
      <p:sp>
        <p:nvSpPr>
          <p:cNvPr id="18" name="Shape 16"/>
          <p:cNvSpPr/>
          <p:nvPr/>
        </p:nvSpPr>
        <p:spPr>
          <a:xfrm>
            <a:off x="8549640" y="0"/>
            <a:ext cx="0" cy="6858000"/>
          </a:xfrm>
          <a:prstGeom prst="line">
            <a:avLst/>
          </a:prstGeom>
          <a:noFill/>
          <a:ln w="6350">
            <a:solidFill>
              <a:srgbClr val="1A2331"/>
            </a:solidFill>
            <a:prstDash val="solid"/>
          </a:ln>
        </p:spPr>
        <p:txBody>
          <a:bodyPr/>
          <a:lstStyle/>
          <a:p>
            <a:endParaRPr lang="en-IN"/>
          </a:p>
        </p:txBody>
      </p:sp>
      <p:sp>
        <p:nvSpPr>
          <p:cNvPr id="19" name="Shape 17"/>
          <p:cNvSpPr/>
          <p:nvPr/>
        </p:nvSpPr>
        <p:spPr>
          <a:xfrm>
            <a:off x="9052560" y="0"/>
            <a:ext cx="0" cy="6858000"/>
          </a:xfrm>
          <a:prstGeom prst="line">
            <a:avLst/>
          </a:prstGeom>
          <a:noFill/>
          <a:ln w="6350">
            <a:solidFill>
              <a:srgbClr val="1A2331"/>
            </a:solidFill>
            <a:prstDash val="solid"/>
          </a:ln>
        </p:spPr>
        <p:txBody>
          <a:bodyPr/>
          <a:lstStyle/>
          <a:p>
            <a:endParaRPr lang="en-IN"/>
          </a:p>
        </p:txBody>
      </p:sp>
      <p:sp>
        <p:nvSpPr>
          <p:cNvPr id="20" name="Shape 18"/>
          <p:cNvSpPr/>
          <p:nvPr/>
        </p:nvSpPr>
        <p:spPr>
          <a:xfrm>
            <a:off x="9555480" y="0"/>
            <a:ext cx="0" cy="6858000"/>
          </a:xfrm>
          <a:prstGeom prst="line">
            <a:avLst/>
          </a:prstGeom>
          <a:noFill/>
          <a:ln w="6350">
            <a:solidFill>
              <a:srgbClr val="1A2331"/>
            </a:solidFill>
            <a:prstDash val="solid"/>
          </a:ln>
        </p:spPr>
        <p:txBody>
          <a:bodyPr/>
          <a:lstStyle/>
          <a:p>
            <a:endParaRPr lang="en-IN"/>
          </a:p>
        </p:txBody>
      </p:sp>
      <p:sp>
        <p:nvSpPr>
          <p:cNvPr id="21" name="Shape 19"/>
          <p:cNvSpPr/>
          <p:nvPr/>
        </p:nvSpPr>
        <p:spPr>
          <a:xfrm>
            <a:off x="10058400" y="0"/>
            <a:ext cx="0" cy="6858000"/>
          </a:xfrm>
          <a:prstGeom prst="line">
            <a:avLst/>
          </a:prstGeom>
          <a:noFill/>
          <a:ln w="6350">
            <a:solidFill>
              <a:srgbClr val="1A2331"/>
            </a:solidFill>
            <a:prstDash val="solid"/>
          </a:ln>
        </p:spPr>
        <p:txBody>
          <a:bodyPr/>
          <a:lstStyle/>
          <a:p>
            <a:endParaRPr lang="en-IN"/>
          </a:p>
        </p:txBody>
      </p:sp>
      <p:sp>
        <p:nvSpPr>
          <p:cNvPr id="22" name="Shape 20"/>
          <p:cNvSpPr/>
          <p:nvPr/>
        </p:nvSpPr>
        <p:spPr>
          <a:xfrm>
            <a:off x="10561320" y="0"/>
            <a:ext cx="0" cy="6858000"/>
          </a:xfrm>
          <a:prstGeom prst="line">
            <a:avLst/>
          </a:prstGeom>
          <a:noFill/>
          <a:ln w="6350">
            <a:solidFill>
              <a:srgbClr val="1A2331"/>
            </a:solidFill>
            <a:prstDash val="solid"/>
          </a:ln>
        </p:spPr>
        <p:txBody>
          <a:bodyPr/>
          <a:lstStyle/>
          <a:p>
            <a:endParaRPr lang="en-IN"/>
          </a:p>
        </p:txBody>
      </p:sp>
      <p:sp>
        <p:nvSpPr>
          <p:cNvPr id="23" name="Shape 21"/>
          <p:cNvSpPr/>
          <p:nvPr/>
        </p:nvSpPr>
        <p:spPr>
          <a:xfrm>
            <a:off x="11064240" y="0"/>
            <a:ext cx="0" cy="6858000"/>
          </a:xfrm>
          <a:prstGeom prst="line">
            <a:avLst/>
          </a:prstGeom>
          <a:noFill/>
          <a:ln w="6350">
            <a:solidFill>
              <a:srgbClr val="1A2331"/>
            </a:solidFill>
            <a:prstDash val="solid"/>
          </a:ln>
        </p:spPr>
        <p:txBody>
          <a:bodyPr/>
          <a:lstStyle/>
          <a:p>
            <a:endParaRPr lang="en-IN"/>
          </a:p>
        </p:txBody>
      </p:sp>
      <p:sp>
        <p:nvSpPr>
          <p:cNvPr id="24" name="Shape 22"/>
          <p:cNvSpPr/>
          <p:nvPr/>
        </p:nvSpPr>
        <p:spPr>
          <a:xfrm>
            <a:off x="11567160" y="0"/>
            <a:ext cx="0" cy="6858000"/>
          </a:xfrm>
          <a:prstGeom prst="line">
            <a:avLst/>
          </a:prstGeom>
          <a:noFill/>
          <a:ln w="6350">
            <a:solidFill>
              <a:srgbClr val="1A2331"/>
            </a:solidFill>
            <a:prstDash val="solid"/>
          </a:ln>
        </p:spPr>
        <p:txBody>
          <a:bodyPr/>
          <a:lstStyle/>
          <a:p>
            <a:endParaRPr lang="en-IN"/>
          </a:p>
        </p:txBody>
      </p:sp>
      <p:sp>
        <p:nvSpPr>
          <p:cNvPr id="25" name="Shape 23"/>
          <p:cNvSpPr/>
          <p:nvPr/>
        </p:nvSpPr>
        <p:spPr>
          <a:xfrm>
            <a:off x="12070080" y="0"/>
            <a:ext cx="0" cy="6858000"/>
          </a:xfrm>
          <a:prstGeom prst="line">
            <a:avLst/>
          </a:prstGeom>
          <a:noFill/>
          <a:ln w="6350">
            <a:solidFill>
              <a:srgbClr val="1A2331"/>
            </a:solidFill>
            <a:prstDash val="solid"/>
          </a:ln>
        </p:spPr>
        <p:txBody>
          <a:bodyPr/>
          <a:lstStyle/>
          <a:p>
            <a:endParaRPr lang="en-IN"/>
          </a:p>
        </p:txBody>
      </p:sp>
      <p:sp>
        <p:nvSpPr>
          <p:cNvPr id="26" name="Shape 24"/>
          <p:cNvSpPr/>
          <p:nvPr/>
        </p:nvSpPr>
        <p:spPr>
          <a:xfrm>
            <a:off x="0" y="502920"/>
            <a:ext cx="12191695" cy="0"/>
          </a:xfrm>
          <a:prstGeom prst="line">
            <a:avLst/>
          </a:prstGeom>
          <a:noFill/>
          <a:ln w="6350">
            <a:solidFill>
              <a:srgbClr val="1A2331"/>
            </a:solidFill>
            <a:prstDash val="solid"/>
          </a:ln>
        </p:spPr>
        <p:txBody>
          <a:bodyPr/>
          <a:lstStyle/>
          <a:p>
            <a:endParaRPr lang="en-IN"/>
          </a:p>
        </p:txBody>
      </p:sp>
      <p:sp>
        <p:nvSpPr>
          <p:cNvPr id="27" name="Shape 25"/>
          <p:cNvSpPr/>
          <p:nvPr/>
        </p:nvSpPr>
        <p:spPr>
          <a:xfrm>
            <a:off x="0" y="1005840"/>
            <a:ext cx="12191695" cy="0"/>
          </a:xfrm>
          <a:prstGeom prst="line">
            <a:avLst/>
          </a:prstGeom>
          <a:noFill/>
          <a:ln w="6350">
            <a:solidFill>
              <a:srgbClr val="1A2331"/>
            </a:solidFill>
            <a:prstDash val="solid"/>
          </a:ln>
        </p:spPr>
        <p:txBody>
          <a:bodyPr/>
          <a:lstStyle/>
          <a:p>
            <a:endParaRPr lang="en-IN"/>
          </a:p>
        </p:txBody>
      </p:sp>
      <p:sp>
        <p:nvSpPr>
          <p:cNvPr id="28" name="Shape 26"/>
          <p:cNvSpPr/>
          <p:nvPr/>
        </p:nvSpPr>
        <p:spPr>
          <a:xfrm>
            <a:off x="0" y="1508760"/>
            <a:ext cx="12191695" cy="0"/>
          </a:xfrm>
          <a:prstGeom prst="line">
            <a:avLst/>
          </a:prstGeom>
          <a:noFill/>
          <a:ln w="6350">
            <a:solidFill>
              <a:srgbClr val="1A2331"/>
            </a:solidFill>
            <a:prstDash val="solid"/>
          </a:ln>
        </p:spPr>
        <p:txBody>
          <a:bodyPr/>
          <a:lstStyle/>
          <a:p>
            <a:endParaRPr lang="en-IN"/>
          </a:p>
        </p:txBody>
      </p:sp>
      <p:sp>
        <p:nvSpPr>
          <p:cNvPr id="29" name="Shape 27"/>
          <p:cNvSpPr/>
          <p:nvPr/>
        </p:nvSpPr>
        <p:spPr>
          <a:xfrm>
            <a:off x="0" y="2011680"/>
            <a:ext cx="12191695" cy="0"/>
          </a:xfrm>
          <a:prstGeom prst="line">
            <a:avLst/>
          </a:prstGeom>
          <a:noFill/>
          <a:ln w="6350">
            <a:solidFill>
              <a:srgbClr val="1A2331"/>
            </a:solidFill>
            <a:prstDash val="solid"/>
          </a:ln>
        </p:spPr>
        <p:txBody>
          <a:bodyPr/>
          <a:lstStyle/>
          <a:p>
            <a:endParaRPr lang="en-IN"/>
          </a:p>
        </p:txBody>
      </p:sp>
      <p:sp>
        <p:nvSpPr>
          <p:cNvPr id="30" name="Shape 28"/>
          <p:cNvSpPr/>
          <p:nvPr/>
        </p:nvSpPr>
        <p:spPr>
          <a:xfrm>
            <a:off x="0" y="2514600"/>
            <a:ext cx="12191695" cy="0"/>
          </a:xfrm>
          <a:prstGeom prst="line">
            <a:avLst/>
          </a:prstGeom>
          <a:noFill/>
          <a:ln w="6350">
            <a:solidFill>
              <a:srgbClr val="1A2331"/>
            </a:solidFill>
            <a:prstDash val="solid"/>
          </a:ln>
        </p:spPr>
        <p:txBody>
          <a:bodyPr/>
          <a:lstStyle/>
          <a:p>
            <a:endParaRPr lang="en-IN"/>
          </a:p>
        </p:txBody>
      </p:sp>
      <p:sp>
        <p:nvSpPr>
          <p:cNvPr id="31" name="Shape 29"/>
          <p:cNvSpPr/>
          <p:nvPr/>
        </p:nvSpPr>
        <p:spPr>
          <a:xfrm>
            <a:off x="0" y="3017520"/>
            <a:ext cx="12191695" cy="0"/>
          </a:xfrm>
          <a:prstGeom prst="line">
            <a:avLst/>
          </a:prstGeom>
          <a:noFill/>
          <a:ln w="6350">
            <a:solidFill>
              <a:srgbClr val="1A2331"/>
            </a:solidFill>
            <a:prstDash val="solid"/>
          </a:ln>
        </p:spPr>
        <p:txBody>
          <a:bodyPr/>
          <a:lstStyle/>
          <a:p>
            <a:endParaRPr lang="en-IN"/>
          </a:p>
        </p:txBody>
      </p:sp>
      <p:sp>
        <p:nvSpPr>
          <p:cNvPr id="32" name="Shape 30"/>
          <p:cNvSpPr/>
          <p:nvPr/>
        </p:nvSpPr>
        <p:spPr>
          <a:xfrm>
            <a:off x="0" y="3520440"/>
            <a:ext cx="12191695" cy="0"/>
          </a:xfrm>
          <a:prstGeom prst="line">
            <a:avLst/>
          </a:prstGeom>
          <a:noFill/>
          <a:ln w="6350">
            <a:solidFill>
              <a:srgbClr val="1A2331"/>
            </a:solidFill>
            <a:prstDash val="solid"/>
          </a:ln>
        </p:spPr>
        <p:txBody>
          <a:bodyPr/>
          <a:lstStyle/>
          <a:p>
            <a:endParaRPr lang="en-IN"/>
          </a:p>
        </p:txBody>
      </p:sp>
      <p:sp>
        <p:nvSpPr>
          <p:cNvPr id="33" name="Shape 31"/>
          <p:cNvSpPr/>
          <p:nvPr/>
        </p:nvSpPr>
        <p:spPr>
          <a:xfrm>
            <a:off x="0" y="4023360"/>
            <a:ext cx="12191695" cy="0"/>
          </a:xfrm>
          <a:prstGeom prst="line">
            <a:avLst/>
          </a:prstGeom>
          <a:noFill/>
          <a:ln w="6350">
            <a:solidFill>
              <a:srgbClr val="1A2331"/>
            </a:solidFill>
            <a:prstDash val="solid"/>
          </a:ln>
        </p:spPr>
        <p:txBody>
          <a:bodyPr/>
          <a:lstStyle/>
          <a:p>
            <a:endParaRPr lang="en-IN"/>
          </a:p>
        </p:txBody>
      </p:sp>
      <p:sp>
        <p:nvSpPr>
          <p:cNvPr id="34" name="Shape 32"/>
          <p:cNvSpPr/>
          <p:nvPr/>
        </p:nvSpPr>
        <p:spPr>
          <a:xfrm>
            <a:off x="0" y="4526280"/>
            <a:ext cx="12191695" cy="0"/>
          </a:xfrm>
          <a:prstGeom prst="line">
            <a:avLst/>
          </a:prstGeom>
          <a:noFill/>
          <a:ln w="6350">
            <a:solidFill>
              <a:srgbClr val="1A2331"/>
            </a:solidFill>
            <a:prstDash val="solid"/>
          </a:ln>
        </p:spPr>
        <p:txBody>
          <a:bodyPr/>
          <a:lstStyle/>
          <a:p>
            <a:endParaRPr lang="en-IN"/>
          </a:p>
        </p:txBody>
      </p:sp>
      <p:sp>
        <p:nvSpPr>
          <p:cNvPr id="35" name="Shape 33"/>
          <p:cNvSpPr/>
          <p:nvPr/>
        </p:nvSpPr>
        <p:spPr>
          <a:xfrm>
            <a:off x="0" y="5029200"/>
            <a:ext cx="12191695" cy="0"/>
          </a:xfrm>
          <a:prstGeom prst="line">
            <a:avLst/>
          </a:prstGeom>
          <a:noFill/>
          <a:ln w="6350">
            <a:solidFill>
              <a:srgbClr val="1A2331"/>
            </a:solidFill>
            <a:prstDash val="solid"/>
          </a:ln>
        </p:spPr>
        <p:txBody>
          <a:bodyPr/>
          <a:lstStyle/>
          <a:p>
            <a:endParaRPr lang="en-IN"/>
          </a:p>
        </p:txBody>
      </p:sp>
      <p:sp>
        <p:nvSpPr>
          <p:cNvPr id="36" name="Shape 34"/>
          <p:cNvSpPr/>
          <p:nvPr/>
        </p:nvSpPr>
        <p:spPr>
          <a:xfrm>
            <a:off x="0" y="5532120"/>
            <a:ext cx="12191695" cy="0"/>
          </a:xfrm>
          <a:prstGeom prst="line">
            <a:avLst/>
          </a:prstGeom>
          <a:noFill/>
          <a:ln w="6350">
            <a:solidFill>
              <a:srgbClr val="1A2331"/>
            </a:solidFill>
            <a:prstDash val="solid"/>
          </a:ln>
        </p:spPr>
        <p:txBody>
          <a:bodyPr/>
          <a:lstStyle/>
          <a:p>
            <a:endParaRPr lang="en-IN"/>
          </a:p>
        </p:txBody>
      </p:sp>
      <p:sp>
        <p:nvSpPr>
          <p:cNvPr id="37" name="Shape 35"/>
          <p:cNvSpPr/>
          <p:nvPr/>
        </p:nvSpPr>
        <p:spPr>
          <a:xfrm>
            <a:off x="0" y="6035040"/>
            <a:ext cx="12191695" cy="0"/>
          </a:xfrm>
          <a:prstGeom prst="line">
            <a:avLst/>
          </a:prstGeom>
          <a:noFill/>
          <a:ln w="6350">
            <a:solidFill>
              <a:srgbClr val="1A2331"/>
            </a:solidFill>
            <a:prstDash val="solid"/>
          </a:ln>
        </p:spPr>
        <p:txBody>
          <a:bodyPr/>
          <a:lstStyle/>
          <a:p>
            <a:endParaRPr lang="en-IN"/>
          </a:p>
        </p:txBody>
      </p:sp>
      <p:sp>
        <p:nvSpPr>
          <p:cNvPr id="38" name="Shape 36"/>
          <p:cNvSpPr/>
          <p:nvPr/>
        </p:nvSpPr>
        <p:spPr>
          <a:xfrm>
            <a:off x="0" y="6537960"/>
            <a:ext cx="12191695" cy="0"/>
          </a:xfrm>
          <a:prstGeom prst="line">
            <a:avLst/>
          </a:prstGeom>
          <a:noFill/>
          <a:ln w="6350">
            <a:solidFill>
              <a:srgbClr val="1A2331"/>
            </a:solidFill>
            <a:prstDash val="solid"/>
          </a:ln>
        </p:spPr>
        <p:txBody>
          <a:bodyPr/>
          <a:lstStyle/>
          <a:p>
            <a:endParaRPr lang="en-IN"/>
          </a:p>
        </p:txBody>
      </p:sp>
      <p:sp>
        <p:nvSpPr>
          <p:cNvPr id="39" name="Shape 37"/>
          <p:cNvSpPr/>
          <p:nvPr/>
        </p:nvSpPr>
        <p:spPr>
          <a:xfrm>
            <a:off x="566928" y="420624"/>
            <a:ext cx="274320" cy="274320"/>
          </a:xfrm>
          <a:prstGeom prst="rect">
            <a:avLst/>
          </a:prstGeom>
          <a:solidFill>
            <a:srgbClr val="7C4DE8"/>
          </a:solidFill>
          <a:ln/>
        </p:spPr>
        <p:txBody>
          <a:bodyPr/>
          <a:lstStyle/>
          <a:p>
            <a:endParaRPr lang="en-IN"/>
          </a:p>
        </p:txBody>
      </p:sp>
      <p:sp>
        <p:nvSpPr>
          <p:cNvPr id="40" name="Shape 38"/>
          <p:cNvSpPr/>
          <p:nvPr/>
        </p:nvSpPr>
        <p:spPr>
          <a:xfrm>
            <a:off x="640994" y="494690"/>
            <a:ext cx="126187" cy="126187"/>
          </a:xfrm>
          <a:prstGeom prst="rect">
            <a:avLst/>
          </a:prstGeom>
          <a:solidFill>
            <a:srgbClr val="0E141B"/>
          </a:solidFill>
          <a:ln/>
        </p:spPr>
        <p:txBody>
          <a:bodyPr/>
          <a:lstStyle/>
          <a:p>
            <a:endParaRPr lang="en-IN"/>
          </a:p>
        </p:txBody>
      </p:sp>
      <p:sp>
        <p:nvSpPr>
          <p:cNvPr id="41" name="Shape 39"/>
          <p:cNvSpPr/>
          <p:nvPr/>
        </p:nvSpPr>
        <p:spPr>
          <a:xfrm>
            <a:off x="613562" y="365760"/>
            <a:ext cx="46634" cy="54864"/>
          </a:xfrm>
          <a:prstGeom prst="rect">
            <a:avLst/>
          </a:prstGeom>
          <a:solidFill>
            <a:srgbClr val="7C4DE8"/>
          </a:solidFill>
          <a:ln/>
        </p:spPr>
        <p:txBody>
          <a:bodyPr/>
          <a:lstStyle/>
          <a:p>
            <a:endParaRPr lang="en-IN"/>
          </a:p>
        </p:txBody>
      </p:sp>
      <p:sp>
        <p:nvSpPr>
          <p:cNvPr id="42" name="Shape 40"/>
          <p:cNvSpPr/>
          <p:nvPr/>
        </p:nvSpPr>
        <p:spPr>
          <a:xfrm>
            <a:off x="613562" y="694944"/>
            <a:ext cx="46634" cy="54864"/>
          </a:xfrm>
          <a:prstGeom prst="rect">
            <a:avLst/>
          </a:prstGeom>
          <a:solidFill>
            <a:srgbClr val="7C4DE8"/>
          </a:solidFill>
          <a:ln/>
        </p:spPr>
        <p:txBody>
          <a:bodyPr/>
          <a:lstStyle/>
          <a:p>
            <a:endParaRPr lang="en-IN"/>
          </a:p>
        </p:txBody>
      </p:sp>
      <p:sp>
        <p:nvSpPr>
          <p:cNvPr id="43" name="Shape 41"/>
          <p:cNvSpPr/>
          <p:nvPr/>
        </p:nvSpPr>
        <p:spPr>
          <a:xfrm>
            <a:off x="512064" y="467258"/>
            <a:ext cx="54864" cy="46634"/>
          </a:xfrm>
          <a:prstGeom prst="rect">
            <a:avLst/>
          </a:prstGeom>
          <a:solidFill>
            <a:srgbClr val="7C4DE8"/>
          </a:solidFill>
          <a:ln/>
        </p:spPr>
        <p:txBody>
          <a:bodyPr/>
          <a:lstStyle/>
          <a:p>
            <a:endParaRPr lang="en-IN"/>
          </a:p>
        </p:txBody>
      </p:sp>
      <p:sp>
        <p:nvSpPr>
          <p:cNvPr id="44" name="Shape 42"/>
          <p:cNvSpPr/>
          <p:nvPr/>
        </p:nvSpPr>
        <p:spPr>
          <a:xfrm>
            <a:off x="841248" y="467258"/>
            <a:ext cx="54864" cy="46634"/>
          </a:xfrm>
          <a:prstGeom prst="rect">
            <a:avLst/>
          </a:prstGeom>
          <a:solidFill>
            <a:srgbClr val="7C4DE8"/>
          </a:solidFill>
          <a:ln/>
        </p:spPr>
        <p:txBody>
          <a:bodyPr/>
          <a:lstStyle/>
          <a:p>
            <a:endParaRPr lang="en-IN"/>
          </a:p>
        </p:txBody>
      </p:sp>
      <p:sp>
        <p:nvSpPr>
          <p:cNvPr id="45" name="Shape 43"/>
          <p:cNvSpPr/>
          <p:nvPr/>
        </p:nvSpPr>
        <p:spPr>
          <a:xfrm>
            <a:off x="747979" y="365760"/>
            <a:ext cx="46634" cy="54864"/>
          </a:xfrm>
          <a:prstGeom prst="rect">
            <a:avLst/>
          </a:prstGeom>
          <a:solidFill>
            <a:srgbClr val="7C4DE8"/>
          </a:solidFill>
          <a:ln/>
        </p:spPr>
        <p:txBody>
          <a:bodyPr/>
          <a:lstStyle/>
          <a:p>
            <a:endParaRPr lang="en-IN"/>
          </a:p>
        </p:txBody>
      </p:sp>
      <p:sp>
        <p:nvSpPr>
          <p:cNvPr id="46" name="Shape 44"/>
          <p:cNvSpPr/>
          <p:nvPr/>
        </p:nvSpPr>
        <p:spPr>
          <a:xfrm>
            <a:off x="747979" y="694944"/>
            <a:ext cx="46634" cy="54864"/>
          </a:xfrm>
          <a:prstGeom prst="rect">
            <a:avLst/>
          </a:prstGeom>
          <a:solidFill>
            <a:srgbClr val="7C4DE8"/>
          </a:solidFill>
          <a:ln/>
        </p:spPr>
        <p:txBody>
          <a:bodyPr/>
          <a:lstStyle/>
          <a:p>
            <a:endParaRPr lang="en-IN"/>
          </a:p>
        </p:txBody>
      </p:sp>
      <p:sp>
        <p:nvSpPr>
          <p:cNvPr id="47" name="Shape 45"/>
          <p:cNvSpPr/>
          <p:nvPr/>
        </p:nvSpPr>
        <p:spPr>
          <a:xfrm>
            <a:off x="512064" y="601675"/>
            <a:ext cx="54864" cy="46634"/>
          </a:xfrm>
          <a:prstGeom prst="rect">
            <a:avLst/>
          </a:prstGeom>
          <a:solidFill>
            <a:srgbClr val="7C4DE8"/>
          </a:solidFill>
          <a:ln/>
        </p:spPr>
        <p:txBody>
          <a:bodyPr/>
          <a:lstStyle/>
          <a:p>
            <a:endParaRPr lang="en-IN"/>
          </a:p>
        </p:txBody>
      </p:sp>
      <p:sp>
        <p:nvSpPr>
          <p:cNvPr id="48" name="Shape 46"/>
          <p:cNvSpPr/>
          <p:nvPr/>
        </p:nvSpPr>
        <p:spPr>
          <a:xfrm>
            <a:off x="841248" y="601675"/>
            <a:ext cx="54864" cy="46634"/>
          </a:xfrm>
          <a:prstGeom prst="rect">
            <a:avLst/>
          </a:prstGeom>
          <a:solidFill>
            <a:srgbClr val="7C4DE8"/>
          </a:solidFill>
          <a:ln/>
        </p:spPr>
        <p:txBody>
          <a:bodyPr/>
          <a:lstStyle/>
          <a:p>
            <a:endParaRPr lang="en-IN"/>
          </a:p>
        </p:txBody>
      </p:sp>
      <p:sp>
        <p:nvSpPr>
          <p:cNvPr id="49" name="Text 47"/>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FFFFFF"/>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50" name="Text 48"/>
          <p:cNvSpPr/>
          <p:nvPr/>
        </p:nvSpPr>
        <p:spPr>
          <a:xfrm>
            <a:off x="7589520" y="384048"/>
            <a:ext cx="4023360" cy="274320"/>
          </a:xfrm>
          <a:prstGeom prst="rect">
            <a:avLst/>
          </a:prstGeom>
          <a:noFill/>
          <a:ln/>
        </p:spPr>
        <p:txBody>
          <a:bodyPr wrap="square" lIns="0" tIns="0" rIns="0" bIns="0" rtlCol="0" anchor="ctr"/>
          <a:lstStyle/>
          <a:p>
            <a:pPr marL="0" indent="0" algn="r">
              <a:buNone/>
            </a:pPr>
            <a:r>
              <a:rPr lang="en-US" sz="900" kern="0" spc="120" dirty="0">
                <a:solidFill>
                  <a:srgbClr val="9AA3AE"/>
                </a:solidFill>
                <a:latin typeface="Consolas" pitchFamily="34" charset="0"/>
                <a:ea typeface="Consolas" pitchFamily="34" charset="-122"/>
                <a:cs typeface="Consolas" pitchFamily="34" charset="-120"/>
              </a:rPr>
              <a:t>SUBMISSION TEMPLATE · JULY 30-31</a:t>
            </a:r>
            <a:endParaRPr lang="en-US" sz="900" dirty="0"/>
          </a:p>
        </p:txBody>
      </p:sp>
      <p:sp>
        <p:nvSpPr>
          <p:cNvPr id="51" name="Text 49"/>
          <p:cNvSpPr/>
          <p:nvPr/>
        </p:nvSpPr>
        <p:spPr>
          <a:xfrm>
            <a:off x="530352" y="1005840"/>
            <a:ext cx="11155680" cy="960120"/>
          </a:xfrm>
          <a:prstGeom prst="rect">
            <a:avLst/>
          </a:prstGeom>
          <a:noFill/>
          <a:ln/>
        </p:spPr>
        <p:txBody>
          <a:bodyPr wrap="square" lIns="0" tIns="0" rIns="0" bIns="0" rtlCol="0" anchor="ctr"/>
          <a:lstStyle/>
          <a:p>
            <a:pPr marL="0" indent="0">
              <a:buNone/>
            </a:pPr>
            <a:r>
              <a:rPr lang="en-US" sz="5600" kern="0" spc="600" dirty="0">
                <a:solidFill>
                  <a:srgbClr val="FFFFFF"/>
                </a:solidFill>
                <a:latin typeface="Arial Black" pitchFamily="34" charset="0"/>
                <a:ea typeface="Arial Black" pitchFamily="34" charset="-122"/>
                <a:cs typeface="Arial Black" pitchFamily="34" charset="-120"/>
              </a:rPr>
              <a:t>FRONT</a:t>
            </a:r>
            <a:r>
              <a:rPr lang="en-US" sz="5600" kern="0" spc="600" dirty="0">
                <a:solidFill>
                  <a:srgbClr val="7C4DE8"/>
                </a:solidFill>
                <a:latin typeface="Arial Black" pitchFamily="34" charset="0"/>
                <a:ea typeface="Arial Black" pitchFamily="34" charset="-122"/>
                <a:cs typeface="Arial Black" pitchFamily="34" charset="-120"/>
              </a:rPr>
              <a:t>IER</a:t>
            </a:r>
            <a:endParaRPr lang="en-US" sz="5600" dirty="0"/>
          </a:p>
        </p:txBody>
      </p:sp>
      <p:sp>
        <p:nvSpPr>
          <p:cNvPr id="52" name="Shape 50"/>
          <p:cNvSpPr/>
          <p:nvPr/>
        </p:nvSpPr>
        <p:spPr>
          <a:xfrm>
            <a:off x="566928" y="2048256"/>
            <a:ext cx="7589520" cy="402336"/>
          </a:xfrm>
          <a:prstGeom prst="rect">
            <a:avLst/>
          </a:prstGeom>
          <a:ln w="9525">
            <a:solidFill>
              <a:srgbClr val="FFFFFF"/>
            </a:solidFill>
            <a:prstDash val="solid"/>
          </a:ln>
        </p:spPr>
        <p:txBody>
          <a:bodyPr/>
          <a:lstStyle/>
          <a:p>
            <a:endParaRPr lang="en-IN"/>
          </a:p>
        </p:txBody>
      </p:sp>
      <p:sp>
        <p:nvSpPr>
          <p:cNvPr id="53" name="Text 51"/>
          <p:cNvSpPr/>
          <p:nvPr/>
        </p:nvSpPr>
        <p:spPr>
          <a:xfrm>
            <a:off x="822960" y="2048256"/>
            <a:ext cx="7132320" cy="402336"/>
          </a:xfrm>
          <a:prstGeom prst="rect">
            <a:avLst/>
          </a:prstGeom>
          <a:noFill/>
          <a:ln/>
        </p:spPr>
        <p:txBody>
          <a:bodyPr wrap="square" lIns="0" tIns="0" rIns="0" bIns="0" rtlCol="0" anchor="ctr"/>
          <a:lstStyle/>
          <a:p>
            <a:pPr marL="0" indent="0">
              <a:buNone/>
            </a:pPr>
            <a:r>
              <a:rPr lang="en-US" sz="1300" kern="0" spc="300" dirty="0">
                <a:solidFill>
                  <a:srgbClr val="FFFFFF"/>
                </a:solidFill>
                <a:latin typeface="Consolas" pitchFamily="34" charset="0"/>
                <a:ea typeface="Consolas" pitchFamily="34" charset="-122"/>
                <a:cs typeface="Consolas" pitchFamily="34" charset="-120"/>
              </a:rPr>
              <a:t>B U I L D   T H E   N E X T</a:t>
            </a:r>
            <a:endParaRPr lang="en-US" sz="1300" dirty="0"/>
          </a:p>
        </p:txBody>
      </p:sp>
      <p:sp>
        <p:nvSpPr>
          <p:cNvPr id="54" name="Shape 52"/>
          <p:cNvSpPr/>
          <p:nvPr/>
        </p:nvSpPr>
        <p:spPr>
          <a:xfrm>
            <a:off x="8156448" y="2048256"/>
            <a:ext cx="1325880" cy="402336"/>
          </a:xfrm>
          <a:prstGeom prst="rect">
            <a:avLst/>
          </a:prstGeom>
          <a:solidFill>
            <a:srgbClr val="7C4DE8"/>
          </a:solidFill>
          <a:ln/>
        </p:spPr>
        <p:txBody>
          <a:bodyPr/>
          <a:lstStyle/>
          <a:p>
            <a:endParaRPr lang="en-IN"/>
          </a:p>
        </p:txBody>
      </p:sp>
      <p:sp>
        <p:nvSpPr>
          <p:cNvPr id="55" name="Text 53"/>
          <p:cNvSpPr/>
          <p:nvPr/>
        </p:nvSpPr>
        <p:spPr>
          <a:xfrm>
            <a:off x="8156448" y="2048256"/>
            <a:ext cx="1325880" cy="402336"/>
          </a:xfrm>
          <a:prstGeom prst="rect">
            <a:avLst/>
          </a:prstGeom>
          <a:noFill/>
          <a:ln/>
        </p:spPr>
        <p:txBody>
          <a:bodyPr wrap="square" lIns="0" tIns="0" rIns="0" bIns="0" rtlCol="0" anchor="ctr"/>
          <a:lstStyle/>
          <a:p>
            <a:pPr marL="0" indent="0" algn="ctr">
              <a:buNone/>
            </a:pPr>
            <a:r>
              <a:rPr lang="en-US" sz="1300" b="1" kern="0" spc="300" dirty="0">
                <a:solidFill>
                  <a:srgbClr val="FFFFFF"/>
                </a:solidFill>
                <a:latin typeface="Consolas" pitchFamily="34" charset="0"/>
                <a:ea typeface="Consolas" pitchFamily="34" charset="-122"/>
                <a:cs typeface="Consolas" pitchFamily="34" charset="-120"/>
              </a:rPr>
              <a:t>A I</a:t>
            </a:r>
            <a:endParaRPr lang="en-US" sz="1300" dirty="0"/>
          </a:p>
        </p:txBody>
      </p:sp>
      <p:sp>
        <p:nvSpPr>
          <p:cNvPr id="56" name="Text 54"/>
          <p:cNvSpPr/>
          <p:nvPr/>
        </p:nvSpPr>
        <p:spPr>
          <a:xfrm>
            <a:off x="566928" y="2788920"/>
            <a:ext cx="5577840" cy="201168"/>
          </a:xfrm>
          <a:prstGeom prst="rect">
            <a:avLst/>
          </a:prstGeom>
          <a:noFill/>
          <a:ln/>
        </p:spPr>
        <p:txBody>
          <a:bodyPr wrap="square" lIns="0" tIns="0" rIns="0" bIns="0" rtlCol="0" anchor="ctr"/>
          <a:lstStyle/>
          <a:p>
            <a:pPr marL="0" indent="0">
              <a:buNone/>
            </a:pPr>
            <a:r>
              <a:rPr lang="en-US" sz="900" b="1" kern="0" spc="110" dirty="0">
                <a:solidFill>
                  <a:srgbClr val="B9A2F4"/>
                </a:solidFill>
                <a:latin typeface="Consolas" pitchFamily="34" charset="0"/>
                <a:ea typeface="Consolas" pitchFamily="34" charset="-122"/>
                <a:cs typeface="Consolas" pitchFamily="34" charset="-120"/>
              </a:rPr>
              <a:t>PROJECT TITLE</a:t>
            </a:r>
            <a:endParaRPr lang="en-US" sz="900" dirty="0"/>
          </a:p>
        </p:txBody>
      </p:sp>
      <p:sp>
        <p:nvSpPr>
          <p:cNvPr id="57" name="Shape 55"/>
          <p:cNvSpPr/>
          <p:nvPr/>
        </p:nvSpPr>
        <p:spPr>
          <a:xfrm>
            <a:off x="566928" y="2999232"/>
            <a:ext cx="5577840" cy="566928"/>
          </a:xfrm>
          <a:prstGeom prst="roundRect">
            <a:avLst>
              <a:gd name="adj" fmla="val 6452"/>
            </a:avLst>
          </a:prstGeom>
          <a:solidFill>
            <a:srgbClr val="18212C"/>
          </a:solidFill>
          <a:ln w="9525">
            <a:solidFill>
              <a:srgbClr val="2A3441"/>
            </a:solidFill>
            <a:prstDash val="solid"/>
          </a:ln>
        </p:spPr>
        <p:txBody>
          <a:bodyPr/>
          <a:lstStyle/>
          <a:p>
            <a:endParaRPr lang="en-IN"/>
          </a:p>
        </p:txBody>
      </p:sp>
      <p:sp>
        <p:nvSpPr>
          <p:cNvPr id="58" name="Text 56"/>
          <p:cNvSpPr/>
          <p:nvPr/>
        </p:nvSpPr>
        <p:spPr>
          <a:xfrm>
            <a:off x="713232" y="2999232"/>
            <a:ext cx="5285232" cy="566928"/>
          </a:xfrm>
          <a:prstGeom prst="rect">
            <a:avLst/>
          </a:prstGeom>
          <a:noFill/>
          <a:ln/>
        </p:spPr>
        <p:txBody>
          <a:bodyPr wrap="square" lIns="762" tIns="762" rIns="762" bIns="762" rtlCol="0" anchor="t"/>
          <a:lstStyle/>
          <a:p>
            <a:pPr marL="0" indent="0">
              <a:buNone/>
            </a:pPr>
            <a:r>
              <a:rPr lang="en-US" sz="1100" i="1" dirty="0">
                <a:solidFill>
                  <a:srgbClr val="667180"/>
                </a:solidFill>
                <a:latin typeface="Arial" pitchFamily="34" charset="0"/>
                <a:ea typeface="Arial" pitchFamily="34" charset="-122"/>
                <a:cs typeface="Arial" pitchFamily="34" charset="-120"/>
              </a:rPr>
              <a:t>SentinelMind</a:t>
            </a:r>
            <a:endParaRPr lang="en-US" sz="1100" dirty="0"/>
          </a:p>
        </p:txBody>
      </p:sp>
      <p:sp>
        <p:nvSpPr>
          <p:cNvPr id="59" name="Text 57"/>
          <p:cNvSpPr/>
          <p:nvPr/>
        </p:nvSpPr>
        <p:spPr>
          <a:xfrm>
            <a:off x="566928" y="3703320"/>
            <a:ext cx="5577840" cy="201168"/>
          </a:xfrm>
          <a:prstGeom prst="rect">
            <a:avLst/>
          </a:prstGeom>
          <a:noFill/>
          <a:ln/>
        </p:spPr>
        <p:txBody>
          <a:bodyPr wrap="square" lIns="0" tIns="0" rIns="0" bIns="0" rtlCol="0" anchor="ctr"/>
          <a:lstStyle/>
          <a:p>
            <a:pPr marL="0" indent="0">
              <a:buNone/>
            </a:pPr>
            <a:r>
              <a:rPr lang="en-US" sz="900" b="1" kern="0" spc="110" dirty="0">
                <a:solidFill>
                  <a:srgbClr val="B9A2F4"/>
                </a:solidFill>
                <a:latin typeface="Consolas" pitchFamily="34" charset="0"/>
                <a:ea typeface="Consolas" pitchFamily="34" charset="-122"/>
                <a:cs typeface="Consolas" pitchFamily="34" charset="-120"/>
              </a:rPr>
              <a:t>TEAM NAME</a:t>
            </a:r>
            <a:endParaRPr lang="en-US" sz="900" dirty="0"/>
          </a:p>
        </p:txBody>
      </p:sp>
      <p:sp>
        <p:nvSpPr>
          <p:cNvPr id="60" name="Shape 58"/>
          <p:cNvSpPr/>
          <p:nvPr/>
        </p:nvSpPr>
        <p:spPr>
          <a:xfrm>
            <a:off x="566928" y="3913632"/>
            <a:ext cx="5577840" cy="566928"/>
          </a:xfrm>
          <a:prstGeom prst="roundRect">
            <a:avLst>
              <a:gd name="adj" fmla="val 6452"/>
            </a:avLst>
          </a:prstGeom>
          <a:solidFill>
            <a:srgbClr val="18212C"/>
          </a:solidFill>
          <a:ln w="9525">
            <a:solidFill>
              <a:srgbClr val="2A3441"/>
            </a:solidFill>
            <a:prstDash val="solid"/>
          </a:ln>
        </p:spPr>
        <p:txBody>
          <a:bodyPr/>
          <a:lstStyle/>
          <a:p>
            <a:endParaRPr lang="en-IN"/>
          </a:p>
        </p:txBody>
      </p:sp>
      <p:sp>
        <p:nvSpPr>
          <p:cNvPr id="61" name="Text 59"/>
          <p:cNvSpPr/>
          <p:nvPr/>
        </p:nvSpPr>
        <p:spPr>
          <a:xfrm>
            <a:off x="713232" y="3913632"/>
            <a:ext cx="5285232" cy="566928"/>
          </a:xfrm>
          <a:prstGeom prst="rect">
            <a:avLst/>
          </a:prstGeom>
          <a:noFill/>
          <a:ln/>
        </p:spPr>
        <p:txBody>
          <a:bodyPr wrap="square" lIns="762" tIns="762" rIns="762" bIns="762" rtlCol="0" anchor="t"/>
          <a:lstStyle/>
          <a:p>
            <a:pPr marL="0" indent="0">
              <a:buNone/>
            </a:pPr>
            <a:r>
              <a:rPr lang="en-US" sz="1100" i="1" dirty="0">
                <a:solidFill>
                  <a:srgbClr val="667180"/>
                </a:solidFill>
                <a:latin typeface="Arial" pitchFamily="34" charset="0"/>
                <a:ea typeface="Arial" pitchFamily="34" charset="-122"/>
                <a:cs typeface="Arial" pitchFamily="34" charset="-120"/>
              </a:rPr>
              <a:t>Codecrash</a:t>
            </a:r>
            <a:endParaRPr lang="en-US" sz="1100" dirty="0"/>
          </a:p>
        </p:txBody>
      </p:sp>
      <p:sp>
        <p:nvSpPr>
          <p:cNvPr id="62" name="Text 60"/>
          <p:cNvSpPr/>
          <p:nvPr/>
        </p:nvSpPr>
        <p:spPr>
          <a:xfrm>
            <a:off x="566928" y="4617720"/>
            <a:ext cx="5577840" cy="201168"/>
          </a:xfrm>
          <a:prstGeom prst="rect">
            <a:avLst/>
          </a:prstGeom>
          <a:noFill/>
          <a:ln/>
        </p:spPr>
        <p:txBody>
          <a:bodyPr wrap="square" lIns="0" tIns="0" rIns="0" bIns="0" rtlCol="0" anchor="ctr"/>
          <a:lstStyle/>
          <a:p>
            <a:pPr marL="0" indent="0">
              <a:buNone/>
            </a:pPr>
            <a:r>
              <a:rPr lang="en-US" sz="900" b="1" kern="0" spc="110" dirty="0">
                <a:solidFill>
                  <a:srgbClr val="B9A2F4"/>
                </a:solidFill>
                <a:latin typeface="Consolas" pitchFamily="34" charset="0"/>
                <a:ea typeface="Consolas" pitchFamily="34" charset="-122"/>
                <a:cs typeface="Consolas" pitchFamily="34" charset="-120"/>
              </a:rPr>
              <a:t>ONE-LINE PITCH</a:t>
            </a:r>
            <a:endParaRPr lang="en-US" sz="900" dirty="0"/>
          </a:p>
        </p:txBody>
      </p:sp>
      <p:sp>
        <p:nvSpPr>
          <p:cNvPr id="63" name="Shape 61"/>
          <p:cNvSpPr/>
          <p:nvPr/>
        </p:nvSpPr>
        <p:spPr>
          <a:xfrm>
            <a:off x="566928" y="4828032"/>
            <a:ext cx="5577840" cy="1143000"/>
          </a:xfrm>
          <a:prstGeom prst="roundRect">
            <a:avLst>
              <a:gd name="adj" fmla="val 3200"/>
            </a:avLst>
          </a:prstGeom>
          <a:solidFill>
            <a:srgbClr val="18212C"/>
          </a:solidFill>
          <a:ln w="9525">
            <a:solidFill>
              <a:srgbClr val="2A3441"/>
            </a:solidFill>
            <a:prstDash val="solid"/>
          </a:ln>
        </p:spPr>
        <p:txBody>
          <a:bodyPr/>
          <a:lstStyle/>
          <a:p>
            <a:endParaRPr lang="en-IN"/>
          </a:p>
        </p:txBody>
      </p:sp>
      <p:sp>
        <p:nvSpPr>
          <p:cNvPr id="64" name="Text 62"/>
          <p:cNvSpPr/>
          <p:nvPr/>
        </p:nvSpPr>
        <p:spPr>
          <a:xfrm>
            <a:off x="713232" y="4828032"/>
            <a:ext cx="5285232" cy="1143000"/>
          </a:xfrm>
          <a:prstGeom prst="rect">
            <a:avLst/>
          </a:prstGeom>
          <a:noFill/>
          <a:ln/>
        </p:spPr>
        <p:txBody>
          <a:bodyPr wrap="square" lIns="762" tIns="762" rIns="762" bIns="762" rtlCol="0" anchor="t"/>
          <a:lstStyle/>
          <a:p>
            <a:pPr marL="0" indent="0">
              <a:buNone/>
            </a:pPr>
            <a:r>
              <a:rPr lang="en-US" sz="1100" i="1" dirty="0">
                <a:solidFill>
                  <a:srgbClr val="667180"/>
                </a:solidFill>
                <a:latin typeface="Arial" pitchFamily="34" charset="0"/>
                <a:ea typeface="Arial" pitchFamily="34" charset="-122"/>
                <a:cs typeface="Arial" pitchFamily="34" charset="-120"/>
              </a:rPr>
              <a:t>A real-time AI agent that monitors other AI agents, explains every decision step in plain language, and flags anomalies before they cascade — built for developers who deploy LLM pipelines.</a:t>
            </a:r>
            <a:endParaRPr lang="en-US" sz="1100" dirty="0"/>
          </a:p>
        </p:txBody>
      </p:sp>
      <p:sp>
        <p:nvSpPr>
          <p:cNvPr id="65" name="Text 63"/>
          <p:cNvSpPr/>
          <p:nvPr/>
        </p:nvSpPr>
        <p:spPr>
          <a:xfrm>
            <a:off x="6492240" y="2788920"/>
            <a:ext cx="5120640" cy="201168"/>
          </a:xfrm>
          <a:prstGeom prst="rect">
            <a:avLst/>
          </a:prstGeom>
          <a:noFill/>
          <a:ln/>
        </p:spPr>
        <p:txBody>
          <a:bodyPr wrap="square" lIns="0" tIns="0" rIns="0" bIns="0" rtlCol="0" anchor="ctr"/>
          <a:lstStyle/>
          <a:p>
            <a:pPr marL="0" indent="0">
              <a:buNone/>
            </a:pPr>
            <a:r>
              <a:rPr lang="en-US" sz="900" b="1" kern="0" spc="110" dirty="0">
                <a:solidFill>
                  <a:srgbClr val="B9A2F4"/>
                </a:solidFill>
                <a:latin typeface="Consolas" pitchFamily="34" charset="0"/>
                <a:ea typeface="Consolas" pitchFamily="34" charset="-122"/>
                <a:cs typeface="Consolas" pitchFamily="34" charset="-120"/>
              </a:rPr>
              <a:t>TRACK  —  DELETE THE FOUR YOU ARE NOT ON</a:t>
            </a:r>
            <a:endParaRPr lang="en-US" sz="900" dirty="0"/>
          </a:p>
        </p:txBody>
      </p:sp>
      <p:sp>
        <p:nvSpPr>
          <p:cNvPr id="66" name="Shape 64"/>
          <p:cNvSpPr/>
          <p:nvPr/>
        </p:nvSpPr>
        <p:spPr>
          <a:xfrm>
            <a:off x="6492240" y="2999232"/>
            <a:ext cx="5120640" cy="310896"/>
          </a:xfrm>
          <a:prstGeom prst="rect">
            <a:avLst/>
          </a:prstGeom>
          <a:solidFill>
            <a:srgbClr val="18212C"/>
          </a:solidFill>
          <a:ln w="9525">
            <a:solidFill>
              <a:srgbClr val="2A3441"/>
            </a:solidFill>
            <a:prstDash val="solid"/>
          </a:ln>
        </p:spPr>
        <p:txBody>
          <a:bodyPr/>
          <a:lstStyle/>
          <a:p>
            <a:endParaRPr lang="en-IN"/>
          </a:p>
        </p:txBody>
      </p:sp>
      <p:sp>
        <p:nvSpPr>
          <p:cNvPr id="67" name="Shape 65"/>
          <p:cNvSpPr/>
          <p:nvPr/>
        </p:nvSpPr>
        <p:spPr>
          <a:xfrm>
            <a:off x="6492240" y="2999232"/>
            <a:ext cx="384048" cy="310896"/>
          </a:xfrm>
          <a:prstGeom prst="rect">
            <a:avLst/>
          </a:prstGeom>
          <a:solidFill>
            <a:srgbClr val="7C4DE8"/>
          </a:solidFill>
          <a:ln/>
        </p:spPr>
        <p:txBody>
          <a:bodyPr/>
          <a:lstStyle/>
          <a:p>
            <a:endParaRPr lang="en-IN"/>
          </a:p>
        </p:txBody>
      </p:sp>
      <p:sp>
        <p:nvSpPr>
          <p:cNvPr id="68" name="Text 66"/>
          <p:cNvSpPr/>
          <p:nvPr/>
        </p:nvSpPr>
        <p:spPr>
          <a:xfrm>
            <a:off x="6492240" y="2999232"/>
            <a:ext cx="384048"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01</a:t>
            </a:r>
            <a:endParaRPr lang="en-US" sz="950" dirty="0"/>
          </a:p>
        </p:txBody>
      </p:sp>
      <p:sp>
        <p:nvSpPr>
          <p:cNvPr id="69" name="Text 67"/>
          <p:cNvSpPr/>
          <p:nvPr/>
        </p:nvSpPr>
        <p:spPr>
          <a:xfrm>
            <a:off x="7004304" y="2999232"/>
            <a:ext cx="4480560" cy="310896"/>
          </a:xfrm>
          <a:prstGeom prst="rect">
            <a:avLst/>
          </a:prstGeom>
          <a:noFill/>
          <a:ln/>
        </p:spPr>
        <p:txBody>
          <a:bodyPr wrap="square" lIns="0" tIns="0" rIns="0" bIns="0" rtlCol="0" anchor="ctr"/>
          <a:lstStyle/>
          <a:p>
            <a:pPr marL="0" indent="0">
              <a:buNone/>
            </a:pPr>
            <a:r>
              <a:rPr lang="en-US" sz="1100" kern="0" spc="50" dirty="0">
                <a:solidFill>
                  <a:srgbClr val="FFFFFF"/>
                </a:solidFill>
                <a:latin typeface="Arial" pitchFamily="34" charset="0"/>
                <a:ea typeface="Arial" pitchFamily="34" charset="-122"/>
                <a:cs typeface="Arial" pitchFamily="34" charset="-120"/>
              </a:rPr>
              <a:t>LLM FINE-TUNING</a:t>
            </a:r>
            <a:endParaRPr lang="en-US" sz="1100" dirty="0"/>
          </a:p>
        </p:txBody>
      </p:sp>
      <p:sp>
        <p:nvSpPr>
          <p:cNvPr id="70" name="Shape 68"/>
          <p:cNvSpPr/>
          <p:nvPr/>
        </p:nvSpPr>
        <p:spPr>
          <a:xfrm>
            <a:off x="6492240" y="3364992"/>
            <a:ext cx="5120640" cy="310896"/>
          </a:xfrm>
          <a:prstGeom prst="rect">
            <a:avLst/>
          </a:prstGeom>
          <a:solidFill>
            <a:srgbClr val="18212C"/>
          </a:solidFill>
          <a:ln w="9525">
            <a:solidFill>
              <a:srgbClr val="2A3441"/>
            </a:solidFill>
            <a:prstDash val="solid"/>
          </a:ln>
        </p:spPr>
        <p:txBody>
          <a:bodyPr/>
          <a:lstStyle/>
          <a:p>
            <a:endParaRPr lang="en-IN"/>
          </a:p>
        </p:txBody>
      </p:sp>
      <p:sp>
        <p:nvSpPr>
          <p:cNvPr id="71" name="Shape 69"/>
          <p:cNvSpPr/>
          <p:nvPr/>
        </p:nvSpPr>
        <p:spPr>
          <a:xfrm>
            <a:off x="6492240" y="3364992"/>
            <a:ext cx="384048" cy="310896"/>
          </a:xfrm>
          <a:prstGeom prst="rect">
            <a:avLst/>
          </a:prstGeom>
          <a:solidFill>
            <a:srgbClr val="7C4DE8"/>
          </a:solidFill>
          <a:ln/>
        </p:spPr>
        <p:txBody>
          <a:bodyPr/>
          <a:lstStyle/>
          <a:p>
            <a:endParaRPr lang="en-IN"/>
          </a:p>
        </p:txBody>
      </p:sp>
      <p:sp>
        <p:nvSpPr>
          <p:cNvPr id="72" name="Text 70"/>
          <p:cNvSpPr/>
          <p:nvPr/>
        </p:nvSpPr>
        <p:spPr>
          <a:xfrm>
            <a:off x="6492240" y="3364992"/>
            <a:ext cx="384048"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02</a:t>
            </a:r>
            <a:endParaRPr lang="en-US" sz="950" dirty="0"/>
          </a:p>
        </p:txBody>
      </p:sp>
      <p:sp>
        <p:nvSpPr>
          <p:cNvPr id="73" name="Text 71"/>
          <p:cNvSpPr/>
          <p:nvPr/>
        </p:nvSpPr>
        <p:spPr>
          <a:xfrm>
            <a:off x="7004304" y="3364992"/>
            <a:ext cx="4480560" cy="310896"/>
          </a:xfrm>
          <a:prstGeom prst="rect">
            <a:avLst/>
          </a:prstGeom>
          <a:noFill/>
          <a:ln/>
        </p:spPr>
        <p:txBody>
          <a:bodyPr wrap="square" lIns="0" tIns="0" rIns="0" bIns="0" rtlCol="0" anchor="ctr"/>
          <a:lstStyle/>
          <a:p>
            <a:pPr marL="0" indent="0">
              <a:buNone/>
            </a:pPr>
            <a:r>
              <a:rPr lang="en-US" sz="1100" kern="0" spc="50" dirty="0">
                <a:solidFill>
                  <a:srgbClr val="FFFFFF"/>
                </a:solidFill>
                <a:latin typeface="Arial" pitchFamily="34" charset="0"/>
                <a:ea typeface="Arial" pitchFamily="34" charset="-122"/>
                <a:cs typeface="Arial" pitchFamily="34" charset="-120"/>
              </a:rPr>
              <a:t>AGENTIC SYSTEMS</a:t>
            </a:r>
            <a:endParaRPr lang="en-US" sz="1100" dirty="0"/>
          </a:p>
        </p:txBody>
      </p:sp>
      <p:sp>
        <p:nvSpPr>
          <p:cNvPr id="74" name="Shape 72"/>
          <p:cNvSpPr/>
          <p:nvPr/>
        </p:nvSpPr>
        <p:spPr>
          <a:xfrm>
            <a:off x="6492240" y="3730752"/>
            <a:ext cx="5120640" cy="310896"/>
          </a:xfrm>
          <a:prstGeom prst="rect">
            <a:avLst/>
          </a:prstGeom>
          <a:solidFill>
            <a:srgbClr val="18212C"/>
          </a:solidFill>
          <a:ln w="9525">
            <a:solidFill>
              <a:srgbClr val="2A3441"/>
            </a:solidFill>
            <a:prstDash val="solid"/>
          </a:ln>
        </p:spPr>
        <p:txBody>
          <a:bodyPr/>
          <a:lstStyle/>
          <a:p>
            <a:endParaRPr lang="en-IN"/>
          </a:p>
        </p:txBody>
      </p:sp>
      <p:sp>
        <p:nvSpPr>
          <p:cNvPr id="75" name="Shape 73"/>
          <p:cNvSpPr/>
          <p:nvPr/>
        </p:nvSpPr>
        <p:spPr>
          <a:xfrm>
            <a:off x="6492240" y="3730752"/>
            <a:ext cx="384048" cy="310896"/>
          </a:xfrm>
          <a:prstGeom prst="rect">
            <a:avLst/>
          </a:prstGeom>
          <a:solidFill>
            <a:srgbClr val="7C4DE8"/>
          </a:solidFill>
          <a:ln/>
        </p:spPr>
        <p:txBody>
          <a:bodyPr/>
          <a:lstStyle/>
          <a:p>
            <a:endParaRPr lang="en-IN"/>
          </a:p>
        </p:txBody>
      </p:sp>
      <p:sp>
        <p:nvSpPr>
          <p:cNvPr id="76" name="Text 74"/>
          <p:cNvSpPr/>
          <p:nvPr/>
        </p:nvSpPr>
        <p:spPr>
          <a:xfrm>
            <a:off x="6492240" y="3730752"/>
            <a:ext cx="384048"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03</a:t>
            </a:r>
            <a:endParaRPr lang="en-US" sz="950" dirty="0"/>
          </a:p>
        </p:txBody>
      </p:sp>
      <p:sp>
        <p:nvSpPr>
          <p:cNvPr id="77" name="Text 75"/>
          <p:cNvSpPr/>
          <p:nvPr/>
        </p:nvSpPr>
        <p:spPr>
          <a:xfrm>
            <a:off x="7004304" y="3730752"/>
            <a:ext cx="4480560" cy="310896"/>
          </a:xfrm>
          <a:prstGeom prst="rect">
            <a:avLst/>
          </a:prstGeom>
          <a:noFill/>
          <a:ln/>
        </p:spPr>
        <p:txBody>
          <a:bodyPr wrap="square" lIns="0" tIns="0" rIns="0" bIns="0" rtlCol="0" anchor="ctr"/>
          <a:lstStyle/>
          <a:p>
            <a:pPr marL="0" indent="0">
              <a:buNone/>
            </a:pPr>
            <a:r>
              <a:rPr lang="en-US" sz="1100" kern="0" spc="50" dirty="0">
                <a:solidFill>
                  <a:srgbClr val="FFFFFF"/>
                </a:solidFill>
                <a:latin typeface="Arial" pitchFamily="34" charset="0"/>
                <a:ea typeface="Arial" pitchFamily="34" charset="-122"/>
                <a:cs typeface="Arial" pitchFamily="34" charset="-120"/>
              </a:rPr>
              <a:t>AUTOMATION</a:t>
            </a:r>
            <a:endParaRPr lang="en-US" sz="1100" dirty="0"/>
          </a:p>
        </p:txBody>
      </p:sp>
      <p:sp>
        <p:nvSpPr>
          <p:cNvPr id="78" name="Shape 76"/>
          <p:cNvSpPr/>
          <p:nvPr/>
        </p:nvSpPr>
        <p:spPr>
          <a:xfrm>
            <a:off x="6492240" y="4096512"/>
            <a:ext cx="5120640" cy="310896"/>
          </a:xfrm>
          <a:prstGeom prst="rect">
            <a:avLst/>
          </a:prstGeom>
          <a:solidFill>
            <a:srgbClr val="18212C"/>
          </a:solidFill>
          <a:ln w="9525">
            <a:solidFill>
              <a:srgbClr val="2A3441"/>
            </a:solidFill>
            <a:prstDash val="solid"/>
          </a:ln>
        </p:spPr>
        <p:txBody>
          <a:bodyPr/>
          <a:lstStyle/>
          <a:p>
            <a:endParaRPr lang="en-IN"/>
          </a:p>
        </p:txBody>
      </p:sp>
      <p:sp>
        <p:nvSpPr>
          <p:cNvPr id="79" name="Shape 77"/>
          <p:cNvSpPr/>
          <p:nvPr/>
        </p:nvSpPr>
        <p:spPr>
          <a:xfrm>
            <a:off x="6492240" y="4096512"/>
            <a:ext cx="384048" cy="310896"/>
          </a:xfrm>
          <a:prstGeom prst="rect">
            <a:avLst/>
          </a:prstGeom>
          <a:solidFill>
            <a:srgbClr val="7C4DE8"/>
          </a:solidFill>
          <a:ln/>
        </p:spPr>
        <p:txBody>
          <a:bodyPr/>
          <a:lstStyle/>
          <a:p>
            <a:endParaRPr lang="en-IN"/>
          </a:p>
        </p:txBody>
      </p:sp>
      <p:sp>
        <p:nvSpPr>
          <p:cNvPr id="80" name="Text 78"/>
          <p:cNvSpPr/>
          <p:nvPr/>
        </p:nvSpPr>
        <p:spPr>
          <a:xfrm>
            <a:off x="6492240" y="4096512"/>
            <a:ext cx="384048"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04</a:t>
            </a:r>
            <a:endParaRPr lang="en-US" sz="950" dirty="0"/>
          </a:p>
        </p:txBody>
      </p:sp>
      <p:sp>
        <p:nvSpPr>
          <p:cNvPr id="81" name="Text 79"/>
          <p:cNvSpPr/>
          <p:nvPr/>
        </p:nvSpPr>
        <p:spPr>
          <a:xfrm>
            <a:off x="7004304" y="4096512"/>
            <a:ext cx="4480560" cy="310896"/>
          </a:xfrm>
          <a:prstGeom prst="rect">
            <a:avLst/>
          </a:prstGeom>
          <a:noFill/>
          <a:ln/>
        </p:spPr>
        <p:txBody>
          <a:bodyPr wrap="square" lIns="0" tIns="0" rIns="0" bIns="0" rtlCol="0" anchor="ctr"/>
          <a:lstStyle/>
          <a:p>
            <a:pPr marL="0" indent="0">
              <a:buNone/>
            </a:pPr>
            <a:r>
              <a:rPr lang="en-US" sz="1100" kern="0" spc="50" dirty="0">
                <a:solidFill>
                  <a:srgbClr val="FFFFFF"/>
                </a:solidFill>
                <a:latin typeface="Arial" pitchFamily="34" charset="0"/>
                <a:ea typeface="Arial" pitchFamily="34" charset="-122"/>
                <a:cs typeface="Arial" pitchFamily="34" charset="-120"/>
              </a:rPr>
              <a:t>DEV PRODUCTIVITY</a:t>
            </a:r>
            <a:endParaRPr lang="en-US" sz="1100" dirty="0"/>
          </a:p>
        </p:txBody>
      </p:sp>
      <p:sp>
        <p:nvSpPr>
          <p:cNvPr id="82" name="Shape 80"/>
          <p:cNvSpPr/>
          <p:nvPr/>
        </p:nvSpPr>
        <p:spPr>
          <a:xfrm>
            <a:off x="6492240" y="4462272"/>
            <a:ext cx="5120640" cy="310896"/>
          </a:xfrm>
          <a:prstGeom prst="rect">
            <a:avLst/>
          </a:prstGeom>
          <a:solidFill>
            <a:srgbClr val="18212C"/>
          </a:solidFill>
          <a:ln w="9525">
            <a:solidFill>
              <a:srgbClr val="2A3441"/>
            </a:solidFill>
            <a:prstDash val="solid"/>
          </a:ln>
        </p:spPr>
        <p:txBody>
          <a:bodyPr/>
          <a:lstStyle/>
          <a:p>
            <a:endParaRPr lang="en-IN"/>
          </a:p>
        </p:txBody>
      </p:sp>
      <p:sp>
        <p:nvSpPr>
          <p:cNvPr id="83" name="Shape 81"/>
          <p:cNvSpPr/>
          <p:nvPr/>
        </p:nvSpPr>
        <p:spPr>
          <a:xfrm>
            <a:off x="6492240" y="4462272"/>
            <a:ext cx="384048" cy="310896"/>
          </a:xfrm>
          <a:prstGeom prst="rect">
            <a:avLst/>
          </a:prstGeom>
          <a:solidFill>
            <a:srgbClr val="7C4DE8"/>
          </a:solidFill>
          <a:ln/>
        </p:spPr>
        <p:txBody>
          <a:bodyPr/>
          <a:lstStyle/>
          <a:p>
            <a:endParaRPr lang="en-IN"/>
          </a:p>
        </p:txBody>
      </p:sp>
      <p:sp>
        <p:nvSpPr>
          <p:cNvPr id="84" name="Text 82"/>
          <p:cNvSpPr/>
          <p:nvPr/>
        </p:nvSpPr>
        <p:spPr>
          <a:xfrm>
            <a:off x="6492240" y="4462272"/>
            <a:ext cx="384048"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05</a:t>
            </a:r>
            <a:endParaRPr lang="en-US" sz="950" dirty="0"/>
          </a:p>
        </p:txBody>
      </p:sp>
      <p:sp>
        <p:nvSpPr>
          <p:cNvPr id="85" name="Text 83"/>
          <p:cNvSpPr/>
          <p:nvPr/>
        </p:nvSpPr>
        <p:spPr>
          <a:xfrm>
            <a:off x="7004304" y="4462272"/>
            <a:ext cx="4480560" cy="310896"/>
          </a:xfrm>
          <a:prstGeom prst="rect">
            <a:avLst/>
          </a:prstGeom>
          <a:noFill/>
          <a:ln/>
        </p:spPr>
        <p:txBody>
          <a:bodyPr wrap="square" lIns="0" tIns="0" rIns="0" bIns="0" rtlCol="0" anchor="ctr"/>
          <a:lstStyle/>
          <a:p>
            <a:pPr marL="0" indent="0">
              <a:buNone/>
            </a:pPr>
            <a:r>
              <a:rPr lang="en-US" sz="1100" kern="0" spc="50" dirty="0">
                <a:solidFill>
                  <a:srgbClr val="FFFFFF"/>
                </a:solidFill>
                <a:latin typeface="Arial" pitchFamily="34" charset="0"/>
                <a:ea typeface="Arial" pitchFamily="34" charset="-122"/>
                <a:cs typeface="Arial" pitchFamily="34" charset="-120"/>
              </a:rPr>
              <a:t>AI SAFETY &amp; OBSERVABILITY</a:t>
            </a:r>
            <a:endParaRPr lang="en-US" sz="1100" dirty="0"/>
          </a:p>
        </p:txBody>
      </p:sp>
      <p:sp>
        <p:nvSpPr>
          <p:cNvPr id="86" name="Text 84"/>
          <p:cNvSpPr/>
          <p:nvPr/>
        </p:nvSpPr>
        <p:spPr>
          <a:xfrm>
            <a:off x="6492240" y="4983480"/>
            <a:ext cx="5120640" cy="201168"/>
          </a:xfrm>
          <a:prstGeom prst="rect">
            <a:avLst/>
          </a:prstGeom>
          <a:noFill/>
          <a:ln/>
        </p:spPr>
        <p:txBody>
          <a:bodyPr wrap="square" lIns="0" tIns="0" rIns="0" bIns="0" rtlCol="0" anchor="ctr"/>
          <a:lstStyle/>
          <a:p>
            <a:pPr marL="0" indent="0">
              <a:buNone/>
            </a:pPr>
            <a:r>
              <a:rPr lang="en-US" sz="900" b="1" kern="0" spc="110" dirty="0">
                <a:solidFill>
                  <a:srgbClr val="B9A2F4"/>
                </a:solidFill>
                <a:latin typeface="Consolas" pitchFamily="34" charset="0"/>
                <a:ea typeface="Consolas" pitchFamily="34" charset="-122"/>
                <a:cs typeface="Consolas" pitchFamily="34" charset="-120"/>
              </a:rPr>
              <a:t>TEAM MEMBERS  ·  NAME + REG. NO.</a:t>
            </a:r>
            <a:endParaRPr lang="en-US" sz="900" dirty="0"/>
          </a:p>
        </p:txBody>
      </p:sp>
      <p:sp>
        <p:nvSpPr>
          <p:cNvPr id="87" name="Shape 85"/>
          <p:cNvSpPr/>
          <p:nvPr/>
        </p:nvSpPr>
        <p:spPr>
          <a:xfrm>
            <a:off x="6492240" y="5193792"/>
            <a:ext cx="5120640" cy="777240"/>
          </a:xfrm>
          <a:prstGeom prst="roundRect">
            <a:avLst>
              <a:gd name="adj" fmla="val 4706"/>
            </a:avLst>
          </a:prstGeom>
          <a:solidFill>
            <a:srgbClr val="18212C"/>
          </a:solidFill>
          <a:ln w="9525">
            <a:solidFill>
              <a:srgbClr val="2A3441"/>
            </a:solidFill>
            <a:prstDash val="solid"/>
          </a:ln>
        </p:spPr>
        <p:txBody>
          <a:bodyPr/>
          <a:lstStyle/>
          <a:p>
            <a:endParaRPr lang="en-IN"/>
          </a:p>
        </p:txBody>
      </p:sp>
      <p:sp>
        <p:nvSpPr>
          <p:cNvPr id="88" name="Text 86"/>
          <p:cNvSpPr/>
          <p:nvPr/>
        </p:nvSpPr>
        <p:spPr>
          <a:xfrm>
            <a:off x="6638544" y="5193792"/>
            <a:ext cx="4828032" cy="777240"/>
          </a:xfrm>
          <a:prstGeom prst="rect">
            <a:avLst/>
          </a:prstGeom>
          <a:noFill/>
          <a:ln/>
        </p:spPr>
        <p:txBody>
          <a:bodyPr wrap="square" lIns="762" tIns="762" rIns="762" bIns="762" rtlCol="0" anchor="t"/>
          <a:lstStyle/>
          <a:p>
            <a:pPr marL="0" indent="0">
              <a:buNone/>
            </a:pPr>
            <a:r>
              <a:rPr lang="en-US" sz="1100" i="1" dirty="0">
                <a:solidFill>
                  <a:srgbClr val="667180"/>
                </a:solidFill>
                <a:latin typeface="Arial" pitchFamily="34" charset="0"/>
                <a:ea typeface="Arial" pitchFamily="34" charset="-122"/>
                <a:cs typeface="Arial" pitchFamily="34" charset="-120"/>
              </a:rPr>
              <a:t>1. Jaaiwanth K  ·  24BAI1018          3. Sudarsan  ·  24BAI1406</a:t>
            </a:r>
            <a:endParaRPr lang="en-US" sz="1100" dirty="0"/>
          </a:p>
          <a:p>
            <a:pPr marL="0" indent="0">
              <a:buNone/>
            </a:pPr>
            <a:r>
              <a:rPr lang="en-US" sz="1100" i="1" dirty="0">
                <a:solidFill>
                  <a:srgbClr val="667180"/>
                </a:solidFill>
                <a:latin typeface="Arial" pitchFamily="34" charset="0"/>
                <a:ea typeface="Arial" pitchFamily="34" charset="-122"/>
                <a:cs typeface="Arial" pitchFamily="34" charset="-120"/>
              </a:rPr>
              <a:t>2. Adharshan N  ·  24BAI1403</a:t>
            </a:r>
            <a:endParaRPr lang="en-US" sz="1100" dirty="0"/>
          </a:p>
        </p:txBody>
      </p:sp>
      <p:sp>
        <p:nvSpPr>
          <p:cNvPr id="89" name="Text 87"/>
          <p:cNvSpPr/>
          <p:nvPr/>
        </p:nvSpPr>
        <p:spPr>
          <a:xfrm>
            <a:off x="566928" y="6217920"/>
            <a:ext cx="6400800" cy="274320"/>
          </a:xfrm>
          <a:prstGeom prst="rect">
            <a:avLst/>
          </a:prstGeom>
          <a:noFill/>
          <a:ln/>
        </p:spPr>
        <p:txBody>
          <a:bodyPr wrap="square" lIns="0" tIns="0" rIns="0" bIns="0" rtlCol="0" anchor="ctr"/>
          <a:lstStyle/>
          <a:p>
            <a:pPr marL="0" indent="0">
              <a:buNone/>
            </a:pPr>
            <a:r>
              <a:rPr lang="en-US" sz="850" kern="0" spc="100" dirty="0">
                <a:solidFill>
                  <a:srgbClr val="9AA3AE"/>
                </a:solidFill>
                <a:latin typeface="Consolas" pitchFamily="34" charset="0"/>
                <a:ea typeface="Consolas" pitchFamily="34" charset="-122"/>
                <a:cs typeface="Consolas" pitchFamily="34" charset="-120"/>
              </a:rPr>
              <a:t>NETAJI AUDITORIUM · AB-1 · VIT CHENNAI</a:t>
            </a:r>
            <a:endParaRPr lang="en-US" sz="850" dirty="0"/>
          </a:p>
        </p:txBody>
      </p:sp>
      <p:sp>
        <p:nvSpPr>
          <p:cNvPr id="90" name="Text 88"/>
          <p:cNvSpPr/>
          <p:nvPr/>
        </p:nvSpPr>
        <p:spPr>
          <a:xfrm>
            <a:off x="8229600" y="6217920"/>
            <a:ext cx="3108960" cy="274320"/>
          </a:xfrm>
          <a:prstGeom prst="rect">
            <a:avLst/>
          </a:prstGeom>
          <a:noFill/>
          <a:ln/>
        </p:spPr>
        <p:txBody>
          <a:bodyPr wrap="square" lIns="0" tIns="0" rIns="0" bIns="0" rtlCol="0" anchor="ctr"/>
          <a:lstStyle/>
          <a:p>
            <a:pPr marL="0" indent="0" algn="r">
              <a:buNone/>
            </a:pPr>
            <a:r>
              <a:rPr lang="en-US" sz="850" b="1" kern="0" spc="100" dirty="0">
                <a:solidFill>
                  <a:srgbClr val="FF9900"/>
                </a:solidFill>
                <a:latin typeface="Consolas" pitchFamily="34" charset="0"/>
                <a:ea typeface="Consolas" pitchFamily="34" charset="-122"/>
                <a:cs typeface="Consolas" pitchFamily="34" charset="-120"/>
              </a:rPr>
              <a:t>JULY 30 &amp; 31</a:t>
            </a:r>
            <a:endParaRPr lang="en-US" sz="850" dirty="0"/>
          </a:p>
        </p:txBody>
      </p:sp>
      <p:sp>
        <p:nvSpPr>
          <p:cNvPr id="91" name="Shape 89"/>
          <p:cNvSpPr/>
          <p:nvPr/>
        </p:nvSpPr>
        <p:spPr>
          <a:xfrm>
            <a:off x="11722608" y="6263640"/>
            <a:ext cx="173736" cy="173736"/>
          </a:xfrm>
          <a:prstGeom prst="rect">
            <a:avLst/>
          </a:prstGeom>
          <a:solidFill>
            <a:srgbClr val="7C4DE8"/>
          </a:solidFill>
          <a:ln/>
        </p:spPr>
        <p:txBody>
          <a:bodyPr/>
          <a:lstStyle/>
          <a:p>
            <a:endParaRPr lang="en-IN"/>
          </a:p>
        </p:txBody>
      </p:sp>
      <p:sp>
        <p:nvSpPr>
          <p:cNvPr id="92" name="Shape 90"/>
          <p:cNvSpPr/>
          <p:nvPr/>
        </p:nvSpPr>
        <p:spPr>
          <a:xfrm>
            <a:off x="11769517" y="6310549"/>
            <a:ext cx="79919" cy="79919"/>
          </a:xfrm>
          <a:prstGeom prst="rect">
            <a:avLst/>
          </a:prstGeom>
          <a:solidFill>
            <a:srgbClr val="0E141B"/>
          </a:solidFill>
          <a:ln/>
        </p:spPr>
        <p:txBody>
          <a:bodyPr/>
          <a:lstStyle/>
          <a:p>
            <a:endParaRPr lang="en-IN"/>
          </a:p>
        </p:txBody>
      </p:sp>
      <p:sp>
        <p:nvSpPr>
          <p:cNvPr id="93" name="Shape 91"/>
          <p:cNvSpPr/>
          <p:nvPr/>
        </p:nvSpPr>
        <p:spPr>
          <a:xfrm>
            <a:off x="11752143" y="6228893"/>
            <a:ext cx="29535" cy="34747"/>
          </a:xfrm>
          <a:prstGeom prst="rect">
            <a:avLst/>
          </a:prstGeom>
          <a:solidFill>
            <a:srgbClr val="7C4DE8"/>
          </a:solidFill>
          <a:ln/>
        </p:spPr>
        <p:txBody>
          <a:bodyPr/>
          <a:lstStyle/>
          <a:p>
            <a:endParaRPr lang="en-IN"/>
          </a:p>
        </p:txBody>
      </p:sp>
      <p:sp>
        <p:nvSpPr>
          <p:cNvPr id="94" name="Shape 92"/>
          <p:cNvSpPr/>
          <p:nvPr/>
        </p:nvSpPr>
        <p:spPr>
          <a:xfrm>
            <a:off x="11752143" y="6437376"/>
            <a:ext cx="29535" cy="34747"/>
          </a:xfrm>
          <a:prstGeom prst="rect">
            <a:avLst/>
          </a:prstGeom>
          <a:solidFill>
            <a:srgbClr val="7C4DE8"/>
          </a:solidFill>
          <a:ln/>
        </p:spPr>
        <p:txBody>
          <a:bodyPr/>
          <a:lstStyle/>
          <a:p>
            <a:endParaRPr lang="en-IN"/>
          </a:p>
        </p:txBody>
      </p:sp>
      <p:sp>
        <p:nvSpPr>
          <p:cNvPr id="95" name="Shape 93"/>
          <p:cNvSpPr/>
          <p:nvPr/>
        </p:nvSpPr>
        <p:spPr>
          <a:xfrm>
            <a:off x="11687861" y="6293175"/>
            <a:ext cx="34747" cy="29535"/>
          </a:xfrm>
          <a:prstGeom prst="rect">
            <a:avLst/>
          </a:prstGeom>
          <a:solidFill>
            <a:srgbClr val="7C4DE8"/>
          </a:solidFill>
          <a:ln/>
        </p:spPr>
        <p:txBody>
          <a:bodyPr/>
          <a:lstStyle/>
          <a:p>
            <a:endParaRPr lang="en-IN"/>
          </a:p>
        </p:txBody>
      </p:sp>
      <p:sp>
        <p:nvSpPr>
          <p:cNvPr id="96" name="Shape 94"/>
          <p:cNvSpPr/>
          <p:nvPr/>
        </p:nvSpPr>
        <p:spPr>
          <a:xfrm>
            <a:off x="11896344" y="6293175"/>
            <a:ext cx="34747" cy="29535"/>
          </a:xfrm>
          <a:prstGeom prst="rect">
            <a:avLst/>
          </a:prstGeom>
          <a:solidFill>
            <a:srgbClr val="7C4DE8"/>
          </a:solidFill>
          <a:ln/>
        </p:spPr>
        <p:txBody>
          <a:bodyPr/>
          <a:lstStyle/>
          <a:p>
            <a:endParaRPr lang="en-IN"/>
          </a:p>
        </p:txBody>
      </p:sp>
      <p:sp>
        <p:nvSpPr>
          <p:cNvPr id="97" name="Shape 95"/>
          <p:cNvSpPr/>
          <p:nvPr/>
        </p:nvSpPr>
        <p:spPr>
          <a:xfrm>
            <a:off x="11837274" y="6228893"/>
            <a:ext cx="29535" cy="34747"/>
          </a:xfrm>
          <a:prstGeom prst="rect">
            <a:avLst/>
          </a:prstGeom>
          <a:solidFill>
            <a:srgbClr val="7C4DE8"/>
          </a:solidFill>
          <a:ln/>
        </p:spPr>
        <p:txBody>
          <a:bodyPr/>
          <a:lstStyle/>
          <a:p>
            <a:endParaRPr lang="en-IN"/>
          </a:p>
        </p:txBody>
      </p:sp>
      <p:sp>
        <p:nvSpPr>
          <p:cNvPr id="98" name="Shape 96"/>
          <p:cNvSpPr/>
          <p:nvPr/>
        </p:nvSpPr>
        <p:spPr>
          <a:xfrm>
            <a:off x="11837274" y="6437376"/>
            <a:ext cx="29535" cy="34747"/>
          </a:xfrm>
          <a:prstGeom prst="rect">
            <a:avLst/>
          </a:prstGeom>
          <a:solidFill>
            <a:srgbClr val="7C4DE8"/>
          </a:solidFill>
          <a:ln/>
        </p:spPr>
        <p:txBody>
          <a:bodyPr/>
          <a:lstStyle/>
          <a:p>
            <a:endParaRPr lang="en-IN"/>
          </a:p>
        </p:txBody>
      </p:sp>
      <p:sp>
        <p:nvSpPr>
          <p:cNvPr id="99" name="Shape 97"/>
          <p:cNvSpPr/>
          <p:nvPr/>
        </p:nvSpPr>
        <p:spPr>
          <a:xfrm>
            <a:off x="11687861" y="6378306"/>
            <a:ext cx="34747" cy="29535"/>
          </a:xfrm>
          <a:prstGeom prst="rect">
            <a:avLst/>
          </a:prstGeom>
          <a:solidFill>
            <a:srgbClr val="7C4DE8"/>
          </a:solidFill>
          <a:ln/>
        </p:spPr>
        <p:txBody>
          <a:bodyPr/>
          <a:lstStyle/>
          <a:p>
            <a:endParaRPr lang="en-IN"/>
          </a:p>
        </p:txBody>
      </p:sp>
      <p:sp>
        <p:nvSpPr>
          <p:cNvPr id="100" name="Shape 98"/>
          <p:cNvSpPr/>
          <p:nvPr/>
        </p:nvSpPr>
        <p:spPr>
          <a:xfrm>
            <a:off x="11896344" y="6378306"/>
            <a:ext cx="34747" cy="29535"/>
          </a:xfrm>
          <a:prstGeom prst="rect">
            <a:avLst/>
          </a:prstGeom>
          <a:solidFill>
            <a:srgbClr val="7C4DE8"/>
          </a:solidFill>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marL="0" indent="0" algn="r">
              <a:buNone/>
            </a:pPr>
            <a:r>
              <a:rPr lang="en-US" sz="850" kern="0" spc="120" dirty="0">
                <a:solidFill>
                  <a:srgbClr val="9AA3AE"/>
                </a:solidFill>
                <a:latin typeface="Consolas" pitchFamily="34" charset="0"/>
                <a:ea typeface="Consolas" pitchFamily="34" charset="-122"/>
                <a:cs typeface="Consolas" pitchFamily="34" charset="-120"/>
              </a:rPr>
              <a:t>FRONTIER · SUBMISSION</a:t>
            </a:r>
            <a:endParaRPr lang="en-US" sz="850" dirty="0"/>
          </a:p>
        </p:txBody>
      </p:sp>
      <p:sp>
        <p:nvSpPr>
          <p:cNvPr id="14" name="Shape 12"/>
          <p:cNvSpPr/>
          <p:nvPr/>
        </p:nvSpPr>
        <p:spPr>
          <a:xfrm>
            <a:off x="566928" y="1024128"/>
            <a:ext cx="603504" cy="603504"/>
          </a:xfrm>
          <a:prstGeom prst="rect">
            <a:avLst/>
          </a:prstGeom>
          <a:solidFill>
            <a:srgbClr val="000000"/>
          </a:solidFill>
          <a:ln/>
        </p:spPr>
        <p:txBody>
          <a:bodyPr/>
          <a:lstStyle/>
          <a:p>
            <a:endParaRPr lang="en-IN"/>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02</a:t>
            </a:r>
            <a:endParaRPr lang="en-US" sz="1700" dirty="0"/>
          </a:p>
        </p:txBody>
      </p:sp>
      <p:sp>
        <p:nvSpPr>
          <p:cNvPr id="16" name="Text 14"/>
          <p:cNvSpPr/>
          <p:nvPr/>
        </p:nvSpPr>
        <p:spPr>
          <a:xfrm>
            <a:off x="1353312" y="1005840"/>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THE PROBLEM</a:t>
            </a:r>
            <a:endParaRPr lang="en-US" sz="3100" dirty="0"/>
          </a:p>
        </p:txBody>
      </p:sp>
      <p:sp>
        <p:nvSpPr>
          <p:cNvPr id="17" name="Text 15"/>
          <p:cNvSpPr/>
          <p:nvPr/>
        </p:nvSpPr>
        <p:spPr>
          <a:xfrm>
            <a:off x="1371600" y="1481328"/>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what is broken today</a:t>
            </a:r>
            <a:endParaRPr lang="en-US" sz="1100" dirty="0"/>
          </a:p>
        </p:txBody>
      </p:sp>
      <p:sp>
        <p:nvSpPr>
          <p:cNvPr id="18" name="Text 16"/>
          <p:cNvSpPr/>
          <p:nvPr/>
        </p:nvSpPr>
        <p:spPr>
          <a:xfrm>
            <a:off x="822960" y="2103120"/>
            <a:ext cx="10543032" cy="566928"/>
          </a:xfrm>
          <a:prstGeom prst="rect">
            <a:avLst/>
          </a:prstGeom>
          <a:noFill/>
          <a:ln/>
        </p:spPr>
        <p:txBody>
          <a:bodyPr wrap="square" lIns="0" tIns="0" rIns="0" bIns="0" rtlCol="0" anchor="ctr"/>
          <a:lstStyle/>
          <a:p>
            <a:pPr marL="0" indent="0">
              <a:buNone/>
            </a:pPr>
            <a:r>
              <a:rPr lang="en-US" sz="2100" b="1" dirty="0">
                <a:solidFill>
                  <a:srgbClr val="0E141B"/>
                </a:solidFill>
                <a:latin typeface="Arial" pitchFamily="34" charset="0"/>
                <a:ea typeface="Arial" pitchFamily="34" charset="-122"/>
                <a:cs typeface="Arial" pitchFamily="34" charset="-120"/>
              </a:rPr>
              <a:t>What problem are you solving?</a:t>
            </a:r>
            <a:endParaRPr lang="en-US" sz="2100" dirty="0"/>
          </a:p>
        </p:txBody>
      </p:sp>
      <p:sp>
        <p:nvSpPr>
          <p:cNvPr id="19" name="Shape 17"/>
          <p:cNvSpPr/>
          <p:nvPr/>
        </p:nvSpPr>
        <p:spPr>
          <a:xfrm>
            <a:off x="822960" y="2770632"/>
            <a:ext cx="10543032" cy="2240280"/>
          </a:xfrm>
          <a:prstGeom prst="roundRect">
            <a:avLst>
              <a:gd name="adj" fmla="val 1633"/>
            </a:avLst>
          </a:prstGeom>
          <a:solidFill>
            <a:srgbClr val="F4F6F8"/>
          </a:solidFill>
          <a:ln w="9525">
            <a:solidFill>
              <a:srgbClr val="DDE2E8"/>
            </a:solidFill>
            <a:prstDash val="solid"/>
          </a:ln>
        </p:spPr>
        <p:txBody>
          <a:bodyPr/>
          <a:lstStyle/>
          <a:p>
            <a:endParaRPr lang="en-IN"/>
          </a:p>
        </p:txBody>
      </p:sp>
      <p:sp>
        <p:nvSpPr>
          <p:cNvPr id="20" name="Text 18"/>
          <p:cNvSpPr/>
          <p:nvPr/>
        </p:nvSpPr>
        <p:spPr>
          <a:xfrm>
            <a:off x="969264" y="2770632"/>
            <a:ext cx="10250424" cy="2240280"/>
          </a:xfrm>
          <a:prstGeom prst="rect">
            <a:avLst/>
          </a:prstGeom>
          <a:noFill/>
          <a:ln/>
        </p:spPr>
        <p:txBody>
          <a:bodyPr wrap="square" lIns="762" tIns="762" rIns="762" bIns="762" rtlCol="0" anchor="t"/>
          <a:lstStyle/>
          <a:p>
            <a:pPr marL="0" indent="0">
              <a:buNone/>
            </a:pPr>
            <a:r>
              <a:rPr lang="en-US" sz="1100" i="1" dirty="0">
                <a:solidFill>
                  <a:srgbClr val="9AA3AE"/>
                </a:solidFill>
                <a:latin typeface="Arial" pitchFamily="34" charset="0"/>
                <a:ea typeface="Arial" pitchFamily="34" charset="-122"/>
                <a:cs typeface="Arial" pitchFamily="34" charset="-120"/>
              </a:rPr>
              <a:t>Every company building with AI is rushing to deploy LLM agents — pipelines where models call tools, make decisions, and trigger real actions. But when these agents hallucinate a tool call, loop infinitely, or silently drift off-goal, there is no cockpit to see it happening. Tools like LangSmith log what occurred. Nothing intervenes. Developers find out when the damage is already done. Over 60% of LLM agent failures in production go undetected for more than 10 minutes (Gartner, 2025).</a:t>
            </a:r>
            <a:endParaRPr lang="en-US" sz="1100" dirty="0"/>
          </a:p>
        </p:txBody>
      </p:sp>
      <p:sp>
        <p:nvSpPr>
          <p:cNvPr id="21" name="Text 19"/>
          <p:cNvSpPr/>
          <p:nvPr/>
        </p:nvSpPr>
        <p:spPr>
          <a:xfrm>
            <a:off x="822960" y="5230368"/>
            <a:ext cx="10543032" cy="219456"/>
          </a:xfrm>
          <a:prstGeom prst="rect">
            <a:avLst/>
          </a:prstGeom>
          <a:noFill/>
          <a:ln/>
        </p:spPr>
        <p:txBody>
          <a:bodyPr wrap="square" lIns="0" tIns="0" rIns="0" bIns="0" rtlCol="0" anchor="ctr"/>
          <a:lstStyle/>
          <a:p>
            <a:pPr marL="0" indent="0">
              <a:buNone/>
            </a:pPr>
            <a:r>
              <a:rPr lang="en-US" sz="900" b="1" kern="0" spc="110" dirty="0">
                <a:solidFill>
                  <a:srgbClr val="7C4DE8"/>
                </a:solidFill>
                <a:latin typeface="Consolas" pitchFamily="34" charset="0"/>
                <a:ea typeface="Consolas" pitchFamily="34" charset="-122"/>
                <a:cs typeface="Consolas" pitchFamily="34" charset="-120"/>
              </a:rPr>
              <a:t>MAKE SURE YOUR ANSWER COVERS</a:t>
            </a:r>
            <a:endParaRPr lang="en-US" sz="900" dirty="0"/>
          </a:p>
        </p:txBody>
      </p:sp>
      <p:sp>
        <p:nvSpPr>
          <p:cNvPr id="22" name="Shape 20"/>
          <p:cNvSpPr/>
          <p:nvPr/>
        </p:nvSpPr>
        <p:spPr>
          <a:xfrm>
            <a:off x="822960" y="5596128"/>
            <a:ext cx="91440" cy="91440"/>
          </a:xfrm>
          <a:prstGeom prst="rect">
            <a:avLst/>
          </a:prstGeom>
          <a:solidFill>
            <a:srgbClr val="7C4DE8"/>
          </a:solidFill>
          <a:ln/>
        </p:spPr>
        <p:txBody>
          <a:bodyPr/>
          <a:lstStyle/>
          <a:p>
            <a:endParaRPr lang="en-IN"/>
          </a:p>
        </p:txBody>
      </p:sp>
      <p:sp>
        <p:nvSpPr>
          <p:cNvPr id="23" name="Text 21"/>
          <p:cNvSpPr/>
          <p:nvPr/>
        </p:nvSpPr>
        <p:spPr>
          <a:xfrm>
            <a:off x="1042416"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Who feels this pain, and how often</a:t>
            </a:r>
            <a:endParaRPr lang="en-US" sz="1100" dirty="0"/>
          </a:p>
        </p:txBody>
      </p:sp>
      <p:sp>
        <p:nvSpPr>
          <p:cNvPr id="24" name="Shape 22"/>
          <p:cNvSpPr/>
          <p:nvPr/>
        </p:nvSpPr>
        <p:spPr>
          <a:xfrm>
            <a:off x="3527298" y="5596128"/>
            <a:ext cx="91440" cy="91440"/>
          </a:xfrm>
          <a:prstGeom prst="rect">
            <a:avLst/>
          </a:prstGeom>
          <a:solidFill>
            <a:srgbClr val="7C4DE8"/>
          </a:solidFill>
          <a:ln/>
        </p:spPr>
        <p:txBody>
          <a:bodyPr/>
          <a:lstStyle/>
          <a:p>
            <a:endParaRPr lang="en-IN"/>
          </a:p>
        </p:txBody>
      </p:sp>
      <p:sp>
        <p:nvSpPr>
          <p:cNvPr id="25" name="Text 23"/>
          <p:cNvSpPr/>
          <p:nvPr/>
        </p:nvSpPr>
        <p:spPr>
          <a:xfrm>
            <a:off x="3746754"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How it is handled today</a:t>
            </a:r>
            <a:endParaRPr lang="en-US" sz="1100" dirty="0"/>
          </a:p>
        </p:txBody>
      </p:sp>
      <p:sp>
        <p:nvSpPr>
          <p:cNvPr id="26" name="Shape 24"/>
          <p:cNvSpPr/>
          <p:nvPr/>
        </p:nvSpPr>
        <p:spPr>
          <a:xfrm>
            <a:off x="6231636" y="5596128"/>
            <a:ext cx="91440" cy="91440"/>
          </a:xfrm>
          <a:prstGeom prst="rect">
            <a:avLst/>
          </a:prstGeom>
          <a:solidFill>
            <a:srgbClr val="7C4DE8"/>
          </a:solidFill>
          <a:ln/>
        </p:spPr>
        <p:txBody>
          <a:bodyPr/>
          <a:lstStyle/>
          <a:p>
            <a:endParaRPr lang="en-IN"/>
          </a:p>
        </p:txBody>
      </p:sp>
      <p:sp>
        <p:nvSpPr>
          <p:cNvPr id="27" name="Text 25"/>
          <p:cNvSpPr/>
          <p:nvPr/>
        </p:nvSpPr>
        <p:spPr>
          <a:xfrm>
            <a:off x="6451092"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Why that falls short</a:t>
            </a:r>
            <a:endParaRPr lang="en-US" sz="1100" dirty="0"/>
          </a:p>
        </p:txBody>
      </p:sp>
      <p:sp>
        <p:nvSpPr>
          <p:cNvPr id="28" name="Shape 26"/>
          <p:cNvSpPr/>
          <p:nvPr/>
        </p:nvSpPr>
        <p:spPr>
          <a:xfrm>
            <a:off x="8935974" y="5596128"/>
            <a:ext cx="91440" cy="91440"/>
          </a:xfrm>
          <a:prstGeom prst="rect">
            <a:avLst/>
          </a:prstGeom>
          <a:solidFill>
            <a:srgbClr val="7C4DE8"/>
          </a:solidFill>
          <a:ln/>
        </p:spPr>
        <p:txBody>
          <a:bodyPr/>
          <a:lstStyle/>
          <a:p>
            <a:endParaRPr lang="en-IN"/>
          </a:p>
        </p:txBody>
      </p:sp>
      <p:sp>
        <p:nvSpPr>
          <p:cNvPr id="29" name="Text 27"/>
          <p:cNvSpPr/>
          <p:nvPr/>
        </p:nvSpPr>
        <p:spPr>
          <a:xfrm>
            <a:off x="9155430"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Evidence the problem is real</a:t>
            </a:r>
            <a:endParaRPr lang="en-US" sz="1100" dirty="0"/>
          </a:p>
        </p:txBody>
      </p:sp>
      <p:sp>
        <p:nvSpPr>
          <p:cNvPr id="30" name="Text 28"/>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1" name="Text 29"/>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02</a:t>
            </a:r>
            <a:r>
              <a:rPr lang="en-US" sz="900" dirty="0">
                <a:solidFill>
                  <a:srgbClr val="9AA3AE"/>
                </a:solidFill>
                <a:latin typeface="Consolas" pitchFamily="34" charset="0"/>
                <a:ea typeface="Consolas" pitchFamily="34" charset="-122"/>
                <a:cs typeface="Consolas" pitchFamily="34" charset="-120"/>
              </a:rPr>
              <a:t> / 07</a:t>
            </a:r>
            <a:endParaRPr lang="en-US" sz="900" dirty="0"/>
          </a:p>
        </p:txBody>
      </p:sp>
      <p:sp>
        <p:nvSpPr>
          <p:cNvPr id="32" name="Shape 30"/>
          <p:cNvSpPr/>
          <p:nvPr/>
        </p:nvSpPr>
        <p:spPr>
          <a:xfrm>
            <a:off x="11722608" y="6391656"/>
            <a:ext cx="173736" cy="173736"/>
          </a:xfrm>
          <a:prstGeom prst="rect">
            <a:avLst/>
          </a:prstGeom>
          <a:solidFill>
            <a:srgbClr val="7C4DE8"/>
          </a:solidFill>
          <a:ln/>
        </p:spPr>
        <p:txBody>
          <a:bodyPr/>
          <a:lstStyle/>
          <a:p>
            <a:endParaRPr lang="en-IN"/>
          </a:p>
        </p:txBody>
      </p:sp>
      <p:sp>
        <p:nvSpPr>
          <p:cNvPr id="33" name="Shape 31"/>
          <p:cNvSpPr/>
          <p:nvPr/>
        </p:nvSpPr>
        <p:spPr>
          <a:xfrm>
            <a:off x="11769517" y="6438565"/>
            <a:ext cx="79919" cy="79919"/>
          </a:xfrm>
          <a:prstGeom prst="rect">
            <a:avLst/>
          </a:prstGeom>
          <a:solidFill>
            <a:srgbClr val="FFFFFF"/>
          </a:solidFill>
          <a:ln/>
        </p:spPr>
        <p:txBody>
          <a:bodyPr/>
          <a:lstStyle/>
          <a:p>
            <a:endParaRPr lang="en-IN"/>
          </a:p>
        </p:txBody>
      </p:sp>
      <p:sp>
        <p:nvSpPr>
          <p:cNvPr id="34" name="Shape 32"/>
          <p:cNvSpPr/>
          <p:nvPr/>
        </p:nvSpPr>
        <p:spPr>
          <a:xfrm>
            <a:off x="11752143" y="6356909"/>
            <a:ext cx="29535" cy="34747"/>
          </a:xfrm>
          <a:prstGeom prst="rect">
            <a:avLst/>
          </a:prstGeom>
          <a:solidFill>
            <a:srgbClr val="7C4DE8"/>
          </a:solidFill>
          <a:ln/>
        </p:spPr>
        <p:txBody>
          <a:bodyPr/>
          <a:lstStyle/>
          <a:p>
            <a:endParaRPr lang="en-IN"/>
          </a:p>
        </p:txBody>
      </p:sp>
      <p:sp>
        <p:nvSpPr>
          <p:cNvPr id="35" name="Shape 33"/>
          <p:cNvSpPr/>
          <p:nvPr/>
        </p:nvSpPr>
        <p:spPr>
          <a:xfrm>
            <a:off x="11752143" y="6565392"/>
            <a:ext cx="29535" cy="34747"/>
          </a:xfrm>
          <a:prstGeom prst="rect">
            <a:avLst/>
          </a:prstGeom>
          <a:solidFill>
            <a:srgbClr val="7C4DE8"/>
          </a:solidFill>
          <a:ln/>
        </p:spPr>
        <p:txBody>
          <a:bodyPr/>
          <a:lstStyle/>
          <a:p>
            <a:endParaRPr lang="en-IN"/>
          </a:p>
        </p:txBody>
      </p:sp>
      <p:sp>
        <p:nvSpPr>
          <p:cNvPr id="36" name="Shape 34"/>
          <p:cNvSpPr/>
          <p:nvPr/>
        </p:nvSpPr>
        <p:spPr>
          <a:xfrm>
            <a:off x="11687861" y="6421191"/>
            <a:ext cx="34747" cy="29535"/>
          </a:xfrm>
          <a:prstGeom prst="rect">
            <a:avLst/>
          </a:prstGeom>
          <a:solidFill>
            <a:srgbClr val="7C4DE8"/>
          </a:solidFill>
          <a:ln/>
        </p:spPr>
        <p:txBody>
          <a:bodyPr/>
          <a:lstStyle/>
          <a:p>
            <a:endParaRPr lang="en-IN"/>
          </a:p>
        </p:txBody>
      </p:sp>
      <p:sp>
        <p:nvSpPr>
          <p:cNvPr id="37" name="Shape 35"/>
          <p:cNvSpPr/>
          <p:nvPr/>
        </p:nvSpPr>
        <p:spPr>
          <a:xfrm>
            <a:off x="11896344" y="6421191"/>
            <a:ext cx="34747" cy="29535"/>
          </a:xfrm>
          <a:prstGeom prst="rect">
            <a:avLst/>
          </a:prstGeom>
          <a:solidFill>
            <a:srgbClr val="7C4DE8"/>
          </a:solidFill>
          <a:ln/>
        </p:spPr>
        <p:txBody>
          <a:bodyPr/>
          <a:lstStyle/>
          <a:p>
            <a:endParaRPr lang="en-IN"/>
          </a:p>
        </p:txBody>
      </p:sp>
      <p:sp>
        <p:nvSpPr>
          <p:cNvPr id="38" name="Shape 36"/>
          <p:cNvSpPr/>
          <p:nvPr/>
        </p:nvSpPr>
        <p:spPr>
          <a:xfrm>
            <a:off x="11837274" y="6356909"/>
            <a:ext cx="29535" cy="34747"/>
          </a:xfrm>
          <a:prstGeom prst="rect">
            <a:avLst/>
          </a:prstGeom>
          <a:solidFill>
            <a:srgbClr val="7C4DE8"/>
          </a:solidFill>
          <a:ln/>
        </p:spPr>
        <p:txBody>
          <a:bodyPr/>
          <a:lstStyle/>
          <a:p>
            <a:endParaRPr lang="en-IN"/>
          </a:p>
        </p:txBody>
      </p:sp>
      <p:sp>
        <p:nvSpPr>
          <p:cNvPr id="39" name="Shape 37"/>
          <p:cNvSpPr/>
          <p:nvPr/>
        </p:nvSpPr>
        <p:spPr>
          <a:xfrm>
            <a:off x="11837274" y="6565392"/>
            <a:ext cx="29535" cy="34747"/>
          </a:xfrm>
          <a:prstGeom prst="rect">
            <a:avLst/>
          </a:prstGeom>
          <a:solidFill>
            <a:srgbClr val="7C4DE8"/>
          </a:solidFill>
          <a:ln/>
        </p:spPr>
        <p:txBody>
          <a:bodyPr/>
          <a:lstStyle/>
          <a:p>
            <a:endParaRPr lang="en-IN"/>
          </a:p>
        </p:txBody>
      </p:sp>
      <p:sp>
        <p:nvSpPr>
          <p:cNvPr id="40" name="Shape 38"/>
          <p:cNvSpPr/>
          <p:nvPr/>
        </p:nvSpPr>
        <p:spPr>
          <a:xfrm>
            <a:off x="11687861" y="6506322"/>
            <a:ext cx="34747" cy="29535"/>
          </a:xfrm>
          <a:prstGeom prst="rect">
            <a:avLst/>
          </a:prstGeom>
          <a:solidFill>
            <a:srgbClr val="7C4DE8"/>
          </a:solidFill>
          <a:ln/>
        </p:spPr>
        <p:txBody>
          <a:bodyPr/>
          <a:lstStyle/>
          <a:p>
            <a:endParaRPr lang="en-IN"/>
          </a:p>
        </p:txBody>
      </p:sp>
      <p:sp>
        <p:nvSpPr>
          <p:cNvPr id="41" name="Shape 39"/>
          <p:cNvSpPr/>
          <p:nvPr/>
        </p:nvSpPr>
        <p:spPr>
          <a:xfrm>
            <a:off x="11896344" y="6506322"/>
            <a:ext cx="34747" cy="29535"/>
          </a:xfrm>
          <a:prstGeom prst="rect">
            <a:avLst/>
          </a:prstGeom>
          <a:solidFill>
            <a:srgbClr val="7C4DE8"/>
          </a:solidFill>
          <a:ln/>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marL="0" indent="0" algn="r">
              <a:buNone/>
            </a:pPr>
            <a:r>
              <a:rPr lang="en-US" sz="850" kern="0" spc="120" dirty="0">
                <a:solidFill>
                  <a:srgbClr val="9AA3AE"/>
                </a:solidFill>
                <a:latin typeface="Consolas" pitchFamily="34" charset="0"/>
                <a:ea typeface="Consolas" pitchFamily="34" charset="-122"/>
                <a:cs typeface="Consolas" pitchFamily="34" charset="-120"/>
              </a:rPr>
              <a:t>FRONTIER · SUBMISSION</a:t>
            </a:r>
            <a:endParaRPr lang="en-US" sz="850" dirty="0"/>
          </a:p>
        </p:txBody>
      </p:sp>
      <p:sp>
        <p:nvSpPr>
          <p:cNvPr id="14" name="Shape 12"/>
          <p:cNvSpPr/>
          <p:nvPr/>
        </p:nvSpPr>
        <p:spPr>
          <a:xfrm>
            <a:off x="566928" y="1024128"/>
            <a:ext cx="603504" cy="603504"/>
          </a:xfrm>
          <a:prstGeom prst="rect">
            <a:avLst/>
          </a:prstGeom>
          <a:solidFill>
            <a:srgbClr val="000000"/>
          </a:solidFill>
          <a:ln/>
        </p:spPr>
        <p:txBody>
          <a:bodyPr/>
          <a:lstStyle/>
          <a:p>
            <a:endParaRPr lang="en-IN"/>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03</a:t>
            </a:r>
            <a:endParaRPr lang="en-US" sz="1700" dirty="0"/>
          </a:p>
        </p:txBody>
      </p:sp>
      <p:sp>
        <p:nvSpPr>
          <p:cNvPr id="16" name="Text 14"/>
          <p:cNvSpPr/>
          <p:nvPr/>
        </p:nvSpPr>
        <p:spPr>
          <a:xfrm>
            <a:off x="1353312" y="1005840"/>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OUR SOLUTION</a:t>
            </a:r>
            <a:endParaRPr lang="en-US" sz="3100" dirty="0"/>
          </a:p>
        </p:txBody>
      </p:sp>
      <p:sp>
        <p:nvSpPr>
          <p:cNvPr id="17" name="Text 15"/>
          <p:cNvSpPr/>
          <p:nvPr/>
        </p:nvSpPr>
        <p:spPr>
          <a:xfrm>
            <a:off x="1371600" y="1481328"/>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what we are building</a:t>
            </a:r>
            <a:endParaRPr lang="en-US" sz="1100" dirty="0"/>
          </a:p>
        </p:txBody>
      </p:sp>
      <p:sp>
        <p:nvSpPr>
          <p:cNvPr id="18" name="Text 16"/>
          <p:cNvSpPr/>
          <p:nvPr/>
        </p:nvSpPr>
        <p:spPr>
          <a:xfrm>
            <a:off x="822960" y="2103120"/>
            <a:ext cx="5111496" cy="685800"/>
          </a:xfrm>
          <a:prstGeom prst="rect">
            <a:avLst/>
          </a:prstGeom>
          <a:noFill/>
          <a:ln/>
        </p:spPr>
        <p:txBody>
          <a:bodyPr wrap="square" lIns="0" tIns="0" rIns="0" bIns="0" rtlCol="0" anchor="ctr"/>
          <a:lstStyle/>
          <a:p>
            <a:pPr marL="0" indent="0">
              <a:buNone/>
            </a:pPr>
            <a:r>
              <a:rPr lang="en-US" sz="1800" b="1" dirty="0">
                <a:solidFill>
                  <a:srgbClr val="0E141B"/>
                </a:solidFill>
                <a:latin typeface="Arial" pitchFamily="34" charset="0"/>
                <a:ea typeface="Arial" pitchFamily="34" charset="-122"/>
                <a:cs typeface="Arial" pitchFamily="34" charset="-120"/>
              </a:rPr>
              <a:t>What are you building?</a:t>
            </a:r>
            <a:endParaRPr lang="en-US" sz="1800" dirty="0"/>
          </a:p>
        </p:txBody>
      </p:sp>
      <p:sp>
        <p:nvSpPr>
          <p:cNvPr id="19" name="Shape 17"/>
          <p:cNvSpPr/>
          <p:nvPr/>
        </p:nvSpPr>
        <p:spPr>
          <a:xfrm>
            <a:off x="822960" y="2889504"/>
            <a:ext cx="5111496" cy="2121408"/>
          </a:xfrm>
          <a:prstGeom prst="roundRect">
            <a:avLst>
              <a:gd name="adj" fmla="val 1724"/>
            </a:avLst>
          </a:prstGeom>
          <a:solidFill>
            <a:srgbClr val="F4F6F8"/>
          </a:solidFill>
          <a:ln w="9525">
            <a:solidFill>
              <a:srgbClr val="DDE2E8"/>
            </a:solidFill>
            <a:prstDash val="solid"/>
          </a:ln>
        </p:spPr>
        <p:txBody>
          <a:bodyPr/>
          <a:lstStyle/>
          <a:p>
            <a:endParaRPr lang="en-IN"/>
          </a:p>
        </p:txBody>
      </p:sp>
      <p:sp>
        <p:nvSpPr>
          <p:cNvPr id="20" name="Text 18"/>
          <p:cNvSpPr/>
          <p:nvPr/>
        </p:nvSpPr>
        <p:spPr>
          <a:xfrm>
            <a:off x="969264" y="2889504"/>
            <a:ext cx="4818888" cy="2121408"/>
          </a:xfrm>
          <a:prstGeom prst="rect">
            <a:avLst/>
          </a:prstGeom>
          <a:noFill/>
          <a:ln/>
        </p:spPr>
        <p:txBody>
          <a:bodyPr wrap="square" lIns="762" tIns="762" rIns="762" bIns="762" rtlCol="0" anchor="t"/>
          <a:lstStyle/>
          <a:p>
            <a:pPr marL="0" indent="0">
              <a:buNone/>
            </a:pPr>
            <a:r>
              <a:rPr lang="en-US" sz="1100" i="1" dirty="0">
                <a:solidFill>
                  <a:srgbClr val="9AA3AE"/>
                </a:solidFill>
                <a:latin typeface="Arial" pitchFamily="34" charset="0"/>
                <a:ea typeface="Arial" pitchFamily="34" charset="-122"/>
                <a:cs typeface="Arial" pitchFamily="34" charset="-120"/>
              </a:rPr>
              <a:t>SentinelMind is a real-time observability agent that sits alongside any LLM pipeline. It captures every agent step — every model call, tool invocation, and memory read — and passes the live trace to a meta-agent (Claude) that reads the reasoning, produces a plain-English verdict (OK / WARN / ANOMALY), and explains exactly why. The live trace graph shows up on a React dashboard, color-coded by verdict, in real time.</a:t>
            </a:r>
            <a:endParaRPr lang="en-US" sz="1100" dirty="0"/>
          </a:p>
        </p:txBody>
      </p:sp>
      <p:sp>
        <p:nvSpPr>
          <p:cNvPr id="21" name="Text 19"/>
          <p:cNvSpPr/>
          <p:nvPr/>
        </p:nvSpPr>
        <p:spPr>
          <a:xfrm>
            <a:off x="6254496" y="2103120"/>
            <a:ext cx="5111496" cy="685800"/>
          </a:xfrm>
          <a:prstGeom prst="rect">
            <a:avLst/>
          </a:prstGeom>
          <a:noFill/>
          <a:ln/>
        </p:spPr>
        <p:txBody>
          <a:bodyPr wrap="square" lIns="0" tIns="0" rIns="0" bIns="0" rtlCol="0" anchor="ctr"/>
          <a:lstStyle/>
          <a:p>
            <a:pPr marL="0" indent="0">
              <a:buNone/>
            </a:pPr>
            <a:r>
              <a:rPr lang="en-US" sz="1800" b="1" dirty="0">
                <a:solidFill>
                  <a:srgbClr val="0E141B"/>
                </a:solidFill>
                <a:latin typeface="Arial" pitchFamily="34" charset="0"/>
                <a:ea typeface="Arial" pitchFamily="34" charset="-122"/>
                <a:cs typeface="Arial" pitchFamily="34" charset="-120"/>
              </a:rPr>
              <a:t>How does it solve that problem?</a:t>
            </a:r>
            <a:endParaRPr lang="en-US" sz="1800" dirty="0"/>
          </a:p>
        </p:txBody>
      </p:sp>
      <p:sp>
        <p:nvSpPr>
          <p:cNvPr id="22" name="Shape 20"/>
          <p:cNvSpPr/>
          <p:nvPr/>
        </p:nvSpPr>
        <p:spPr>
          <a:xfrm>
            <a:off x="6254496" y="2889504"/>
            <a:ext cx="5111496" cy="2121408"/>
          </a:xfrm>
          <a:prstGeom prst="roundRect">
            <a:avLst>
              <a:gd name="adj" fmla="val 1724"/>
            </a:avLst>
          </a:prstGeom>
          <a:solidFill>
            <a:srgbClr val="F4F6F8"/>
          </a:solidFill>
          <a:ln w="9525">
            <a:solidFill>
              <a:srgbClr val="DDE2E8"/>
            </a:solidFill>
            <a:prstDash val="solid"/>
          </a:ln>
        </p:spPr>
        <p:txBody>
          <a:bodyPr/>
          <a:lstStyle/>
          <a:p>
            <a:endParaRPr lang="en-IN"/>
          </a:p>
        </p:txBody>
      </p:sp>
      <p:sp>
        <p:nvSpPr>
          <p:cNvPr id="23" name="Text 21"/>
          <p:cNvSpPr/>
          <p:nvPr/>
        </p:nvSpPr>
        <p:spPr>
          <a:xfrm>
            <a:off x="6400800" y="2889504"/>
            <a:ext cx="4818888" cy="2121408"/>
          </a:xfrm>
          <a:prstGeom prst="rect">
            <a:avLst/>
          </a:prstGeom>
          <a:noFill/>
          <a:ln/>
        </p:spPr>
        <p:txBody>
          <a:bodyPr wrap="square" lIns="762" tIns="762" rIns="762" bIns="762" rtlCol="0" anchor="t"/>
          <a:lstStyle/>
          <a:p>
            <a:pPr marL="0" indent="0">
              <a:buNone/>
            </a:pPr>
            <a:r>
              <a:rPr lang="en-US" sz="1100" i="1" dirty="0">
                <a:solidFill>
                  <a:srgbClr val="9AA3AE"/>
                </a:solidFill>
                <a:latin typeface="Arial" pitchFamily="34" charset="0"/>
                <a:ea typeface="Arial" pitchFamily="34" charset="-122"/>
                <a:cs typeface="Arial" pitchFamily="34" charset="-120"/>
              </a:rPr>
              <a:t>LangSmith logs. SentinelMind intervenes. When an ANOMALY is detected — a hallucinated tool call, a goal drift, an infinite loop — SentinelMind flags it in under 3 seconds with a plain-English explanation of exactly what went wrong and why. Developers go from finding out 10 minutes later to seeing it flagged in real time.</a:t>
            </a:r>
            <a:endParaRPr lang="en-US" sz="1100" dirty="0"/>
          </a:p>
        </p:txBody>
      </p:sp>
      <p:sp>
        <p:nvSpPr>
          <p:cNvPr id="24" name="Text 22"/>
          <p:cNvSpPr/>
          <p:nvPr/>
        </p:nvSpPr>
        <p:spPr>
          <a:xfrm>
            <a:off x="822960" y="5230368"/>
            <a:ext cx="10543032" cy="219456"/>
          </a:xfrm>
          <a:prstGeom prst="rect">
            <a:avLst/>
          </a:prstGeom>
          <a:noFill/>
          <a:ln/>
        </p:spPr>
        <p:txBody>
          <a:bodyPr wrap="square" lIns="0" tIns="0" rIns="0" bIns="0" rtlCol="0" anchor="ctr"/>
          <a:lstStyle/>
          <a:p>
            <a:pPr marL="0" indent="0">
              <a:buNone/>
            </a:pPr>
            <a:r>
              <a:rPr lang="en-US" sz="900" b="1" kern="0" spc="110" dirty="0">
                <a:solidFill>
                  <a:srgbClr val="7C4DE8"/>
                </a:solidFill>
                <a:latin typeface="Consolas" pitchFamily="34" charset="0"/>
                <a:ea typeface="Consolas" pitchFamily="34" charset="-122"/>
                <a:cs typeface="Consolas" pitchFamily="34" charset="-120"/>
              </a:rPr>
              <a:t>MAKE SURE YOUR ANSWER COVERS</a:t>
            </a:r>
            <a:endParaRPr lang="en-US" sz="900" dirty="0"/>
          </a:p>
        </p:txBody>
      </p:sp>
      <p:sp>
        <p:nvSpPr>
          <p:cNvPr id="25" name="Shape 23"/>
          <p:cNvSpPr/>
          <p:nvPr/>
        </p:nvSpPr>
        <p:spPr>
          <a:xfrm>
            <a:off x="822960" y="5596128"/>
            <a:ext cx="91440" cy="91440"/>
          </a:xfrm>
          <a:prstGeom prst="rect">
            <a:avLst/>
          </a:prstGeom>
          <a:solidFill>
            <a:srgbClr val="7C4DE8"/>
          </a:solidFill>
          <a:ln/>
        </p:spPr>
        <p:txBody>
          <a:bodyPr/>
          <a:lstStyle/>
          <a:p>
            <a:endParaRPr lang="en-IN"/>
          </a:p>
        </p:txBody>
      </p:sp>
      <p:sp>
        <p:nvSpPr>
          <p:cNvPr id="26" name="Text 24"/>
          <p:cNvSpPr/>
          <p:nvPr/>
        </p:nvSpPr>
        <p:spPr>
          <a:xfrm>
            <a:off x="1042416" y="5522976"/>
            <a:ext cx="3112008"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What a user actually does with it</a:t>
            </a:r>
            <a:endParaRPr lang="en-US" sz="1100" dirty="0"/>
          </a:p>
        </p:txBody>
      </p:sp>
      <p:sp>
        <p:nvSpPr>
          <p:cNvPr id="27" name="Shape 25"/>
          <p:cNvSpPr/>
          <p:nvPr/>
        </p:nvSpPr>
        <p:spPr>
          <a:xfrm>
            <a:off x="4428744" y="5596128"/>
            <a:ext cx="91440" cy="91440"/>
          </a:xfrm>
          <a:prstGeom prst="rect">
            <a:avLst/>
          </a:prstGeom>
          <a:solidFill>
            <a:srgbClr val="7C4DE8"/>
          </a:solidFill>
          <a:ln/>
        </p:spPr>
        <p:txBody>
          <a:bodyPr/>
          <a:lstStyle/>
          <a:p>
            <a:endParaRPr lang="en-IN"/>
          </a:p>
        </p:txBody>
      </p:sp>
      <p:sp>
        <p:nvSpPr>
          <p:cNvPr id="28" name="Text 26"/>
          <p:cNvSpPr/>
          <p:nvPr/>
        </p:nvSpPr>
        <p:spPr>
          <a:xfrm>
            <a:off x="4648200" y="5522976"/>
            <a:ext cx="3112008"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Why it beats the current workaround</a:t>
            </a:r>
            <a:endParaRPr lang="en-US" sz="1100" dirty="0"/>
          </a:p>
        </p:txBody>
      </p:sp>
      <p:sp>
        <p:nvSpPr>
          <p:cNvPr id="29" name="Shape 27"/>
          <p:cNvSpPr/>
          <p:nvPr/>
        </p:nvSpPr>
        <p:spPr>
          <a:xfrm>
            <a:off x="8034528" y="5596128"/>
            <a:ext cx="91440" cy="91440"/>
          </a:xfrm>
          <a:prstGeom prst="rect">
            <a:avLst/>
          </a:prstGeom>
          <a:solidFill>
            <a:srgbClr val="7C4DE8"/>
          </a:solidFill>
          <a:ln/>
        </p:spPr>
        <p:txBody>
          <a:bodyPr/>
          <a:lstStyle/>
          <a:p>
            <a:endParaRPr lang="en-IN"/>
          </a:p>
        </p:txBody>
      </p:sp>
      <p:sp>
        <p:nvSpPr>
          <p:cNvPr id="30" name="Text 28"/>
          <p:cNvSpPr/>
          <p:nvPr/>
        </p:nvSpPr>
        <p:spPr>
          <a:xfrm>
            <a:off x="8253984" y="5522976"/>
            <a:ext cx="3112008"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What is genuinely different about your approach</a:t>
            </a:r>
            <a:endParaRPr lang="en-US" sz="1100" dirty="0"/>
          </a:p>
        </p:txBody>
      </p:sp>
      <p:sp>
        <p:nvSpPr>
          <p:cNvPr id="31" name="Text 29"/>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2" name="Text 30"/>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03</a:t>
            </a:r>
            <a:r>
              <a:rPr lang="en-US" sz="900" dirty="0">
                <a:solidFill>
                  <a:srgbClr val="9AA3AE"/>
                </a:solidFill>
                <a:latin typeface="Consolas" pitchFamily="34" charset="0"/>
                <a:ea typeface="Consolas" pitchFamily="34" charset="-122"/>
                <a:cs typeface="Consolas" pitchFamily="34" charset="-120"/>
              </a:rPr>
              <a:t> / 07</a:t>
            </a:r>
            <a:endParaRPr lang="en-US" sz="900" dirty="0"/>
          </a:p>
        </p:txBody>
      </p:sp>
      <p:sp>
        <p:nvSpPr>
          <p:cNvPr id="33" name="Shape 31"/>
          <p:cNvSpPr/>
          <p:nvPr/>
        </p:nvSpPr>
        <p:spPr>
          <a:xfrm>
            <a:off x="11722608" y="6391656"/>
            <a:ext cx="173736" cy="173736"/>
          </a:xfrm>
          <a:prstGeom prst="rect">
            <a:avLst/>
          </a:prstGeom>
          <a:solidFill>
            <a:srgbClr val="7C4DE8"/>
          </a:solidFill>
          <a:ln/>
        </p:spPr>
        <p:txBody>
          <a:bodyPr/>
          <a:lstStyle/>
          <a:p>
            <a:endParaRPr lang="en-IN"/>
          </a:p>
        </p:txBody>
      </p:sp>
      <p:sp>
        <p:nvSpPr>
          <p:cNvPr id="34" name="Shape 32"/>
          <p:cNvSpPr/>
          <p:nvPr/>
        </p:nvSpPr>
        <p:spPr>
          <a:xfrm>
            <a:off x="11769517" y="6438565"/>
            <a:ext cx="79919" cy="79919"/>
          </a:xfrm>
          <a:prstGeom prst="rect">
            <a:avLst/>
          </a:prstGeom>
          <a:solidFill>
            <a:srgbClr val="FFFFFF"/>
          </a:solidFill>
          <a:ln/>
        </p:spPr>
        <p:txBody>
          <a:bodyPr/>
          <a:lstStyle/>
          <a:p>
            <a:endParaRPr lang="en-IN"/>
          </a:p>
        </p:txBody>
      </p:sp>
      <p:sp>
        <p:nvSpPr>
          <p:cNvPr id="35" name="Shape 33"/>
          <p:cNvSpPr/>
          <p:nvPr/>
        </p:nvSpPr>
        <p:spPr>
          <a:xfrm>
            <a:off x="11752143" y="6356909"/>
            <a:ext cx="29535" cy="34747"/>
          </a:xfrm>
          <a:prstGeom prst="rect">
            <a:avLst/>
          </a:prstGeom>
          <a:solidFill>
            <a:srgbClr val="7C4DE8"/>
          </a:solidFill>
          <a:ln/>
        </p:spPr>
        <p:txBody>
          <a:bodyPr/>
          <a:lstStyle/>
          <a:p>
            <a:endParaRPr lang="en-IN"/>
          </a:p>
        </p:txBody>
      </p:sp>
      <p:sp>
        <p:nvSpPr>
          <p:cNvPr id="36" name="Shape 34"/>
          <p:cNvSpPr/>
          <p:nvPr/>
        </p:nvSpPr>
        <p:spPr>
          <a:xfrm>
            <a:off x="11752143" y="6565392"/>
            <a:ext cx="29535" cy="34747"/>
          </a:xfrm>
          <a:prstGeom prst="rect">
            <a:avLst/>
          </a:prstGeom>
          <a:solidFill>
            <a:srgbClr val="7C4DE8"/>
          </a:solidFill>
          <a:ln/>
        </p:spPr>
        <p:txBody>
          <a:bodyPr/>
          <a:lstStyle/>
          <a:p>
            <a:endParaRPr lang="en-IN"/>
          </a:p>
        </p:txBody>
      </p:sp>
      <p:sp>
        <p:nvSpPr>
          <p:cNvPr id="37" name="Shape 35"/>
          <p:cNvSpPr/>
          <p:nvPr/>
        </p:nvSpPr>
        <p:spPr>
          <a:xfrm>
            <a:off x="11687861" y="6421191"/>
            <a:ext cx="34747" cy="29535"/>
          </a:xfrm>
          <a:prstGeom prst="rect">
            <a:avLst/>
          </a:prstGeom>
          <a:solidFill>
            <a:srgbClr val="7C4DE8"/>
          </a:solidFill>
          <a:ln/>
        </p:spPr>
        <p:txBody>
          <a:bodyPr/>
          <a:lstStyle/>
          <a:p>
            <a:endParaRPr lang="en-IN"/>
          </a:p>
        </p:txBody>
      </p:sp>
      <p:sp>
        <p:nvSpPr>
          <p:cNvPr id="38" name="Shape 36"/>
          <p:cNvSpPr/>
          <p:nvPr/>
        </p:nvSpPr>
        <p:spPr>
          <a:xfrm>
            <a:off x="11896344" y="6421191"/>
            <a:ext cx="34747" cy="29535"/>
          </a:xfrm>
          <a:prstGeom prst="rect">
            <a:avLst/>
          </a:prstGeom>
          <a:solidFill>
            <a:srgbClr val="7C4DE8"/>
          </a:solidFill>
          <a:ln/>
        </p:spPr>
        <p:txBody>
          <a:bodyPr/>
          <a:lstStyle/>
          <a:p>
            <a:endParaRPr lang="en-IN"/>
          </a:p>
        </p:txBody>
      </p:sp>
      <p:sp>
        <p:nvSpPr>
          <p:cNvPr id="39" name="Shape 37"/>
          <p:cNvSpPr/>
          <p:nvPr/>
        </p:nvSpPr>
        <p:spPr>
          <a:xfrm>
            <a:off x="11837274" y="6356909"/>
            <a:ext cx="29535" cy="34747"/>
          </a:xfrm>
          <a:prstGeom prst="rect">
            <a:avLst/>
          </a:prstGeom>
          <a:solidFill>
            <a:srgbClr val="7C4DE8"/>
          </a:solidFill>
          <a:ln/>
        </p:spPr>
        <p:txBody>
          <a:bodyPr/>
          <a:lstStyle/>
          <a:p>
            <a:endParaRPr lang="en-IN"/>
          </a:p>
        </p:txBody>
      </p:sp>
      <p:sp>
        <p:nvSpPr>
          <p:cNvPr id="40" name="Shape 38"/>
          <p:cNvSpPr/>
          <p:nvPr/>
        </p:nvSpPr>
        <p:spPr>
          <a:xfrm>
            <a:off x="11837274" y="6565392"/>
            <a:ext cx="29535" cy="34747"/>
          </a:xfrm>
          <a:prstGeom prst="rect">
            <a:avLst/>
          </a:prstGeom>
          <a:solidFill>
            <a:srgbClr val="7C4DE8"/>
          </a:solidFill>
          <a:ln/>
        </p:spPr>
        <p:txBody>
          <a:bodyPr/>
          <a:lstStyle/>
          <a:p>
            <a:endParaRPr lang="en-IN"/>
          </a:p>
        </p:txBody>
      </p:sp>
      <p:sp>
        <p:nvSpPr>
          <p:cNvPr id="41" name="Shape 39"/>
          <p:cNvSpPr/>
          <p:nvPr/>
        </p:nvSpPr>
        <p:spPr>
          <a:xfrm>
            <a:off x="11687861" y="6506322"/>
            <a:ext cx="34747" cy="29535"/>
          </a:xfrm>
          <a:prstGeom prst="rect">
            <a:avLst/>
          </a:prstGeom>
          <a:solidFill>
            <a:srgbClr val="7C4DE8"/>
          </a:solidFill>
          <a:ln/>
        </p:spPr>
        <p:txBody>
          <a:bodyPr/>
          <a:lstStyle/>
          <a:p>
            <a:endParaRPr lang="en-IN"/>
          </a:p>
        </p:txBody>
      </p:sp>
      <p:sp>
        <p:nvSpPr>
          <p:cNvPr id="42" name="Shape 40"/>
          <p:cNvSpPr/>
          <p:nvPr/>
        </p:nvSpPr>
        <p:spPr>
          <a:xfrm>
            <a:off x="11896344" y="6506322"/>
            <a:ext cx="34747" cy="29535"/>
          </a:xfrm>
          <a:prstGeom prst="rect">
            <a:avLst/>
          </a:prstGeom>
          <a:solidFill>
            <a:srgbClr val="7C4DE8"/>
          </a:solidFill>
          <a:ln/>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marL="0" indent="0" algn="r">
              <a:buNone/>
            </a:pPr>
            <a:r>
              <a:rPr lang="en-US" sz="850" kern="0" spc="120" dirty="0">
                <a:solidFill>
                  <a:srgbClr val="9AA3AE"/>
                </a:solidFill>
                <a:latin typeface="Consolas" pitchFamily="34" charset="0"/>
                <a:ea typeface="Consolas" pitchFamily="34" charset="-122"/>
                <a:cs typeface="Consolas" pitchFamily="34" charset="-120"/>
              </a:rPr>
              <a:t>FRONTIER · SUBMISSION</a:t>
            </a:r>
            <a:endParaRPr lang="en-US" sz="850" dirty="0"/>
          </a:p>
        </p:txBody>
      </p:sp>
      <p:sp>
        <p:nvSpPr>
          <p:cNvPr id="14" name="Shape 12"/>
          <p:cNvSpPr/>
          <p:nvPr/>
        </p:nvSpPr>
        <p:spPr>
          <a:xfrm>
            <a:off x="566928" y="1024128"/>
            <a:ext cx="603504" cy="603504"/>
          </a:xfrm>
          <a:prstGeom prst="rect">
            <a:avLst/>
          </a:prstGeom>
          <a:solidFill>
            <a:srgbClr val="000000"/>
          </a:solidFill>
          <a:ln/>
        </p:spPr>
        <p:txBody>
          <a:bodyPr/>
          <a:lstStyle/>
          <a:p>
            <a:endParaRPr lang="en-IN"/>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04</a:t>
            </a:r>
            <a:endParaRPr lang="en-US" sz="1700" dirty="0"/>
          </a:p>
        </p:txBody>
      </p:sp>
      <p:sp>
        <p:nvSpPr>
          <p:cNvPr id="16" name="Text 14"/>
          <p:cNvSpPr/>
          <p:nvPr/>
        </p:nvSpPr>
        <p:spPr>
          <a:xfrm>
            <a:off x="1353312" y="1005840"/>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HOW IT WORKS</a:t>
            </a:r>
            <a:endParaRPr lang="en-US" sz="3100" dirty="0"/>
          </a:p>
        </p:txBody>
      </p:sp>
      <p:sp>
        <p:nvSpPr>
          <p:cNvPr id="17" name="Text 15"/>
          <p:cNvSpPr/>
          <p:nvPr/>
        </p:nvSpPr>
        <p:spPr>
          <a:xfrm>
            <a:off x="1371600" y="1481328"/>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under the hood</a:t>
            </a:r>
            <a:endParaRPr lang="en-US" sz="1100" dirty="0"/>
          </a:p>
        </p:txBody>
      </p:sp>
      <p:sp>
        <p:nvSpPr>
          <p:cNvPr id="18" name="Text 16"/>
          <p:cNvSpPr/>
          <p:nvPr/>
        </p:nvSpPr>
        <p:spPr>
          <a:xfrm>
            <a:off x="822960" y="2103120"/>
            <a:ext cx="5486400" cy="685800"/>
          </a:xfrm>
          <a:prstGeom prst="rect">
            <a:avLst/>
          </a:prstGeom>
          <a:noFill/>
          <a:ln/>
        </p:spPr>
        <p:txBody>
          <a:bodyPr wrap="square" lIns="0" tIns="0" rIns="0" bIns="0" rtlCol="0" anchor="ctr"/>
          <a:lstStyle/>
          <a:p>
            <a:pPr marL="0" indent="0">
              <a:buNone/>
            </a:pPr>
            <a:r>
              <a:rPr lang="en-US" sz="1800" b="1" dirty="0">
                <a:solidFill>
                  <a:srgbClr val="0E141B"/>
                </a:solidFill>
                <a:latin typeface="Arial" pitchFamily="34" charset="0"/>
                <a:ea typeface="Arial" pitchFamily="34" charset="-122"/>
                <a:cs typeface="Arial" pitchFamily="34" charset="-120"/>
              </a:rPr>
              <a:t>How does it actually work?</a:t>
            </a:r>
            <a:endParaRPr lang="en-US" sz="1800" dirty="0"/>
          </a:p>
        </p:txBody>
      </p:sp>
      <p:sp>
        <p:nvSpPr>
          <p:cNvPr id="19" name="Shape 17"/>
          <p:cNvSpPr/>
          <p:nvPr/>
        </p:nvSpPr>
        <p:spPr>
          <a:xfrm>
            <a:off x="822960" y="2889504"/>
            <a:ext cx="5486400" cy="2121408"/>
          </a:xfrm>
          <a:prstGeom prst="roundRect">
            <a:avLst>
              <a:gd name="adj" fmla="val 1724"/>
            </a:avLst>
          </a:prstGeom>
          <a:solidFill>
            <a:srgbClr val="F4F6F8"/>
          </a:solidFill>
          <a:ln w="9525">
            <a:solidFill>
              <a:srgbClr val="DDE2E8"/>
            </a:solidFill>
            <a:prstDash val="solid"/>
          </a:ln>
        </p:spPr>
        <p:txBody>
          <a:bodyPr/>
          <a:lstStyle/>
          <a:p>
            <a:endParaRPr lang="en-IN"/>
          </a:p>
        </p:txBody>
      </p:sp>
      <p:sp>
        <p:nvSpPr>
          <p:cNvPr id="20" name="Text 18"/>
          <p:cNvSpPr/>
          <p:nvPr/>
        </p:nvSpPr>
        <p:spPr>
          <a:xfrm>
            <a:off x="969264" y="2889504"/>
            <a:ext cx="5193792" cy="2121408"/>
          </a:xfrm>
          <a:prstGeom prst="rect">
            <a:avLst/>
          </a:prstGeom>
          <a:noFill/>
          <a:ln/>
        </p:spPr>
        <p:txBody>
          <a:bodyPr wrap="square" lIns="762" tIns="762" rIns="762" bIns="762" rtlCol="0" anchor="t"/>
          <a:lstStyle/>
          <a:p>
            <a:pPr marL="0" indent="0">
              <a:buNone/>
            </a:pPr>
            <a:r>
              <a:rPr lang="en-US" sz="1100" i="1" dirty="0">
                <a:solidFill>
                  <a:srgbClr val="9AA3AE"/>
                </a:solidFill>
                <a:latin typeface="Arial" pitchFamily="34" charset="0"/>
                <a:ea typeface="Arial" pitchFamily="34" charset="-122"/>
                <a:cs typeface="Arial" pitchFamily="34" charset="-120"/>
              </a:rPr>
              <a:t>Any LLM agent is wrapped with a thin Python decorator that emits structured trace events (tool name, input, output, timestamp) to a local event stream. A meta-agent (Claude Sonnet) subscribes to the stream and evaluates each step against a defined healthy-reasoning system prompt. It returns a JSON verdict: status + explanation. A React dashboard renders the trace as a live node graph, nodes colored green/amber/red. On ANOMALY, the flag is raised instantly with a structured audit log of every decision made up to that point.</a:t>
            </a:r>
            <a:endParaRPr lang="en-US" sz="1100" dirty="0"/>
          </a:p>
        </p:txBody>
      </p:sp>
      <p:sp>
        <p:nvSpPr>
          <p:cNvPr id="21" name="Shape 19"/>
          <p:cNvSpPr/>
          <p:nvPr/>
        </p:nvSpPr>
        <p:spPr>
          <a:xfrm>
            <a:off x="6629400" y="2103120"/>
            <a:ext cx="4736592" cy="2907792"/>
          </a:xfrm>
          <a:prstGeom prst="roundRect">
            <a:avLst>
              <a:gd name="adj" fmla="val 629"/>
            </a:avLst>
          </a:prstGeom>
          <a:solidFill>
            <a:srgbClr val="FAFBFC"/>
          </a:solidFill>
          <a:ln w="12700">
            <a:solidFill>
              <a:srgbClr val="7C4DE8"/>
            </a:solidFill>
            <a:prstDash val="dash"/>
          </a:ln>
        </p:spPr>
        <p:txBody>
          <a:bodyPr/>
          <a:lstStyle/>
          <a:p>
            <a:endParaRPr lang="en-IN"/>
          </a:p>
        </p:txBody>
      </p:sp>
      <p:sp>
        <p:nvSpPr>
          <p:cNvPr id="22" name="Text 20"/>
          <p:cNvSpPr/>
          <p:nvPr/>
        </p:nvSpPr>
        <p:spPr>
          <a:xfrm>
            <a:off x="6629400" y="3200400"/>
            <a:ext cx="4736592" cy="274320"/>
          </a:xfrm>
          <a:prstGeom prst="rect">
            <a:avLst/>
          </a:prstGeom>
          <a:noFill/>
          <a:ln/>
        </p:spPr>
        <p:txBody>
          <a:bodyPr wrap="square" lIns="0" tIns="0" rIns="0" bIns="0" rtlCol="0" anchor="ctr"/>
          <a:lstStyle/>
          <a:p>
            <a:pPr marL="0" indent="0" algn="ctr">
              <a:buNone/>
            </a:pPr>
            <a:r>
              <a:rPr lang="en-US" sz="1100" b="1" kern="0" spc="120" dirty="0">
                <a:solidFill>
                  <a:srgbClr val="7C4DE8"/>
                </a:solidFill>
                <a:latin typeface="Consolas" pitchFamily="34" charset="0"/>
                <a:ea typeface="Consolas" pitchFamily="34" charset="-122"/>
                <a:cs typeface="Consolas" pitchFamily="34" charset="-120"/>
              </a:rPr>
              <a:t>ARCHITECTURE DIAGRAM</a:t>
            </a:r>
            <a:endParaRPr lang="en-US" sz="1100" dirty="0"/>
          </a:p>
        </p:txBody>
      </p:sp>
      <p:sp>
        <p:nvSpPr>
          <p:cNvPr id="23" name="Text 21"/>
          <p:cNvSpPr/>
          <p:nvPr/>
        </p:nvSpPr>
        <p:spPr>
          <a:xfrm>
            <a:off x="6995160" y="3520440"/>
            <a:ext cx="4005072" cy="320040"/>
          </a:xfrm>
          <a:prstGeom prst="rect">
            <a:avLst/>
          </a:prstGeom>
          <a:noFill/>
          <a:ln/>
        </p:spPr>
        <p:txBody>
          <a:bodyPr wrap="square" lIns="0" tIns="0" rIns="0" bIns="0" rtlCol="0" anchor="ctr"/>
          <a:lstStyle/>
          <a:p>
            <a:pPr marL="0" indent="0" algn="ctr">
              <a:buNone/>
            </a:pPr>
            <a:r>
              <a:rPr lang="en-US" sz="1100" i="1" dirty="0">
                <a:solidFill>
                  <a:srgbClr val="9AA3AE"/>
                </a:solidFill>
                <a:latin typeface="Arial" pitchFamily="34" charset="0"/>
                <a:ea typeface="Arial" pitchFamily="34" charset="-122"/>
                <a:cs typeface="Arial" pitchFamily="34" charset="-120"/>
              </a:rPr>
              <a:t>Monitored Agent
↓ Trace Decorator (Python)
↓ Event Stream (WebSocket)
↓ Meta-Agent: Claude Sonnet
↓ Verdict: OK / WARN / ANOMALY
↓ React Dashboard (Live Graph)
↓ Structured Audit Log</a:t>
            </a:r>
            <a:endParaRPr lang="en-US" sz="1100" dirty="0"/>
          </a:p>
        </p:txBody>
      </p:sp>
      <p:sp>
        <p:nvSpPr>
          <p:cNvPr id="24" name="Text 22"/>
          <p:cNvSpPr/>
          <p:nvPr/>
        </p:nvSpPr>
        <p:spPr>
          <a:xfrm>
            <a:off x="822960" y="5230368"/>
            <a:ext cx="10543032" cy="219456"/>
          </a:xfrm>
          <a:prstGeom prst="rect">
            <a:avLst/>
          </a:prstGeom>
          <a:noFill/>
          <a:ln/>
        </p:spPr>
        <p:txBody>
          <a:bodyPr wrap="square" lIns="0" tIns="0" rIns="0" bIns="0" rtlCol="0" anchor="ctr"/>
          <a:lstStyle/>
          <a:p>
            <a:pPr marL="0" indent="0">
              <a:buNone/>
            </a:pPr>
            <a:r>
              <a:rPr lang="en-US" sz="900" b="1" kern="0" spc="110" dirty="0">
                <a:solidFill>
                  <a:srgbClr val="7C4DE8"/>
                </a:solidFill>
                <a:latin typeface="Consolas" pitchFamily="34" charset="0"/>
                <a:ea typeface="Consolas" pitchFamily="34" charset="-122"/>
                <a:cs typeface="Consolas" pitchFamily="34" charset="-120"/>
              </a:rPr>
              <a:t>MAKE SURE YOUR ANSWER COVERS</a:t>
            </a:r>
            <a:endParaRPr lang="en-US" sz="900" dirty="0"/>
          </a:p>
        </p:txBody>
      </p:sp>
      <p:sp>
        <p:nvSpPr>
          <p:cNvPr id="25" name="Shape 23"/>
          <p:cNvSpPr/>
          <p:nvPr/>
        </p:nvSpPr>
        <p:spPr>
          <a:xfrm>
            <a:off x="822960" y="5596128"/>
            <a:ext cx="91440" cy="91440"/>
          </a:xfrm>
          <a:prstGeom prst="rect">
            <a:avLst/>
          </a:prstGeom>
          <a:solidFill>
            <a:srgbClr val="7C4DE8"/>
          </a:solidFill>
          <a:ln/>
        </p:spPr>
        <p:txBody>
          <a:bodyPr/>
          <a:lstStyle/>
          <a:p>
            <a:endParaRPr lang="en-IN"/>
          </a:p>
        </p:txBody>
      </p:sp>
      <p:sp>
        <p:nvSpPr>
          <p:cNvPr id="26" name="Text 24"/>
          <p:cNvSpPr/>
          <p:nvPr/>
        </p:nvSpPr>
        <p:spPr>
          <a:xfrm>
            <a:off x="1042416"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Models, frameworks and AWS services</a:t>
            </a:r>
            <a:endParaRPr lang="en-US" sz="1100" dirty="0"/>
          </a:p>
        </p:txBody>
      </p:sp>
      <p:sp>
        <p:nvSpPr>
          <p:cNvPr id="27" name="Shape 25"/>
          <p:cNvSpPr/>
          <p:nvPr/>
        </p:nvSpPr>
        <p:spPr>
          <a:xfrm>
            <a:off x="3527298" y="5596128"/>
            <a:ext cx="91440" cy="91440"/>
          </a:xfrm>
          <a:prstGeom prst="rect">
            <a:avLst/>
          </a:prstGeom>
          <a:solidFill>
            <a:srgbClr val="7C4DE8"/>
          </a:solidFill>
          <a:ln/>
        </p:spPr>
        <p:txBody>
          <a:bodyPr/>
          <a:lstStyle/>
          <a:p>
            <a:endParaRPr lang="en-IN"/>
          </a:p>
        </p:txBody>
      </p:sp>
      <p:sp>
        <p:nvSpPr>
          <p:cNvPr id="28" name="Text 26"/>
          <p:cNvSpPr/>
          <p:nvPr/>
        </p:nvSpPr>
        <p:spPr>
          <a:xfrm>
            <a:off x="3746754"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Your key technical decision, and why</a:t>
            </a:r>
            <a:endParaRPr lang="en-US" sz="1100" dirty="0"/>
          </a:p>
        </p:txBody>
      </p:sp>
      <p:sp>
        <p:nvSpPr>
          <p:cNvPr id="29" name="Shape 27"/>
          <p:cNvSpPr/>
          <p:nvPr/>
        </p:nvSpPr>
        <p:spPr>
          <a:xfrm>
            <a:off x="6231636" y="5596128"/>
            <a:ext cx="91440" cy="91440"/>
          </a:xfrm>
          <a:prstGeom prst="rect">
            <a:avLst/>
          </a:prstGeom>
          <a:solidFill>
            <a:srgbClr val="7C4DE8"/>
          </a:solidFill>
          <a:ln/>
        </p:spPr>
        <p:txBody>
          <a:bodyPr/>
          <a:lstStyle/>
          <a:p>
            <a:endParaRPr lang="en-IN"/>
          </a:p>
        </p:txBody>
      </p:sp>
      <p:sp>
        <p:nvSpPr>
          <p:cNvPr id="30" name="Text 28"/>
          <p:cNvSpPr/>
          <p:nvPr/>
        </p:nvSpPr>
        <p:spPr>
          <a:xfrm>
            <a:off x="6451092"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The hardest part to build</a:t>
            </a:r>
            <a:endParaRPr lang="en-US" sz="1100" dirty="0"/>
          </a:p>
        </p:txBody>
      </p:sp>
      <p:sp>
        <p:nvSpPr>
          <p:cNvPr id="31" name="Shape 29"/>
          <p:cNvSpPr/>
          <p:nvPr/>
        </p:nvSpPr>
        <p:spPr>
          <a:xfrm>
            <a:off x="8935974" y="5596128"/>
            <a:ext cx="91440" cy="91440"/>
          </a:xfrm>
          <a:prstGeom prst="rect">
            <a:avLst/>
          </a:prstGeom>
          <a:solidFill>
            <a:srgbClr val="7C4DE8"/>
          </a:solidFill>
          <a:ln/>
        </p:spPr>
        <p:txBody>
          <a:bodyPr/>
          <a:lstStyle/>
          <a:p>
            <a:endParaRPr lang="en-IN"/>
          </a:p>
        </p:txBody>
      </p:sp>
      <p:sp>
        <p:nvSpPr>
          <p:cNvPr id="32" name="Text 30"/>
          <p:cNvSpPr/>
          <p:nvPr/>
        </p:nvSpPr>
        <p:spPr>
          <a:xfrm>
            <a:off x="9155430"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How you know it works: tests or evals</a:t>
            </a:r>
            <a:endParaRPr lang="en-US" sz="1100" dirty="0"/>
          </a:p>
        </p:txBody>
      </p:sp>
      <p:sp>
        <p:nvSpPr>
          <p:cNvPr id="33" name="Text 31"/>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4" name="Text 32"/>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04</a:t>
            </a:r>
            <a:r>
              <a:rPr lang="en-US" sz="900" dirty="0">
                <a:solidFill>
                  <a:srgbClr val="9AA3AE"/>
                </a:solidFill>
                <a:latin typeface="Consolas" pitchFamily="34" charset="0"/>
                <a:ea typeface="Consolas" pitchFamily="34" charset="-122"/>
                <a:cs typeface="Consolas" pitchFamily="34" charset="-120"/>
              </a:rPr>
              <a:t> / 07</a:t>
            </a:r>
            <a:endParaRPr lang="en-US" sz="900" dirty="0"/>
          </a:p>
        </p:txBody>
      </p:sp>
      <p:sp>
        <p:nvSpPr>
          <p:cNvPr id="35" name="Shape 33"/>
          <p:cNvSpPr/>
          <p:nvPr/>
        </p:nvSpPr>
        <p:spPr>
          <a:xfrm>
            <a:off x="11722608" y="6391656"/>
            <a:ext cx="173736" cy="173736"/>
          </a:xfrm>
          <a:prstGeom prst="rect">
            <a:avLst/>
          </a:prstGeom>
          <a:solidFill>
            <a:srgbClr val="7C4DE8"/>
          </a:solidFill>
          <a:ln/>
        </p:spPr>
        <p:txBody>
          <a:bodyPr/>
          <a:lstStyle/>
          <a:p>
            <a:endParaRPr lang="en-IN"/>
          </a:p>
        </p:txBody>
      </p:sp>
      <p:sp>
        <p:nvSpPr>
          <p:cNvPr id="36" name="Shape 34"/>
          <p:cNvSpPr/>
          <p:nvPr/>
        </p:nvSpPr>
        <p:spPr>
          <a:xfrm>
            <a:off x="11769517" y="6438565"/>
            <a:ext cx="79919" cy="79919"/>
          </a:xfrm>
          <a:prstGeom prst="rect">
            <a:avLst/>
          </a:prstGeom>
          <a:solidFill>
            <a:srgbClr val="FFFFFF"/>
          </a:solidFill>
          <a:ln/>
        </p:spPr>
        <p:txBody>
          <a:bodyPr/>
          <a:lstStyle/>
          <a:p>
            <a:endParaRPr lang="en-IN"/>
          </a:p>
        </p:txBody>
      </p:sp>
      <p:sp>
        <p:nvSpPr>
          <p:cNvPr id="37" name="Shape 35"/>
          <p:cNvSpPr/>
          <p:nvPr/>
        </p:nvSpPr>
        <p:spPr>
          <a:xfrm>
            <a:off x="11752143" y="6356909"/>
            <a:ext cx="29535" cy="34747"/>
          </a:xfrm>
          <a:prstGeom prst="rect">
            <a:avLst/>
          </a:prstGeom>
          <a:solidFill>
            <a:srgbClr val="7C4DE8"/>
          </a:solidFill>
          <a:ln/>
        </p:spPr>
        <p:txBody>
          <a:bodyPr/>
          <a:lstStyle/>
          <a:p>
            <a:endParaRPr lang="en-IN"/>
          </a:p>
        </p:txBody>
      </p:sp>
      <p:sp>
        <p:nvSpPr>
          <p:cNvPr id="38" name="Shape 36"/>
          <p:cNvSpPr/>
          <p:nvPr/>
        </p:nvSpPr>
        <p:spPr>
          <a:xfrm>
            <a:off x="11752143" y="6565392"/>
            <a:ext cx="29535" cy="34747"/>
          </a:xfrm>
          <a:prstGeom prst="rect">
            <a:avLst/>
          </a:prstGeom>
          <a:solidFill>
            <a:srgbClr val="7C4DE8"/>
          </a:solidFill>
          <a:ln/>
        </p:spPr>
        <p:txBody>
          <a:bodyPr/>
          <a:lstStyle/>
          <a:p>
            <a:endParaRPr lang="en-IN"/>
          </a:p>
        </p:txBody>
      </p:sp>
      <p:sp>
        <p:nvSpPr>
          <p:cNvPr id="39" name="Shape 37"/>
          <p:cNvSpPr/>
          <p:nvPr/>
        </p:nvSpPr>
        <p:spPr>
          <a:xfrm>
            <a:off x="11687861" y="6421191"/>
            <a:ext cx="34747" cy="29535"/>
          </a:xfrm>
          <a:prstGeom prst="rect">
            <a:avLst/>
          </a:prstGeom>
          <a:solidFill>
            <a:srgbClr val="7C4DE8"/>
          </a:solidFill>
          <a:ln/>
        </p:spPr>
        <p:txBody>
          <a:bodyPr/>
          <a:lstStyle/>
          <a:p>
            <a:endParaRPr lang="en-IN"/>
          </a:p>
        </p:txBody>
      </p:sp>
      <p:sp>
        <p:nvSpPr>
          <p:cNvPr id="40" name="Shape 38"/>
          <p:cNvSpPr/>
          <p:nvPr/>
        </p:nvSpPr>
        <p:spPr>
          <a:xfrm>
            <a:off x="11896344" y="6421191"/>
            <a:ext cx="34747" cy="29535"/>
          </a:xfrm>
          <a:prstGeom prst="rect">
            <a:avLst/>
          </a:prstGeom>
          <a:solidFill>
            <a:srgbClr val="7C4DE8"/>
          </a:solidFill>
          <a:ln/>
        </p:spPr>
        <p:txBody>
          <a:bodyPr/>
          <a:lstStyle/>
          <a:p>
            <a:endParaRPr lang="en-IN"/>
          </a:p>
        </p:txBody>
      </p:sp>
      <p:sp>
        <p:nvSpPr>
          <p:cNvPr id="41" name="Shape 39"/>
          <p:cNvSpPr/>
          <p:nvPr/>
        </p:nvSpPr>
        <p:spPr>
          <a:xfrm>
            <a:off x="11837274" y="6356909"/>
            <a:ext cx="29535" cy="34747"/>
          </a:xfrm>
          <a:prstGeom prst="rect">
            <a:avLst/>
          </a:prstGeom>
          <a:solidFill>
            <a:srgbClr val="7C4DE8"/>
          </a:solidFill>
          <a:ln/>
        </p:spPr>
        <p:txBody>
          <a:bodyPr/>
          <a:lstStyle/>
          <a:p>
            <a:endParaRPr lang="en-IN"/>
          </a:p>
        </p:txBody>
      </p:sp>
      <p:sp>
        <p:nvSpPr>
          <p:cNvPr id="42" name="Shape 40"/>
          <p:cNvSpPr/>
          <p:nvPr/>
        </p:nvSpPr>
        <p:spPr>
          <a:xfrm>
            <a:off x="11837274" y="6565392"/>
            <a:ext cx="29535" cy="34747"/>
          </a:xfrm>
          <a:prstGeom prst="rect">
            <a:avLst/>
          </a:prstGeom>
          <a:solidFill>
            <a:srgbClr val="7C4DE8"/>
          </a:solidFill>
          <a:ln/>
        </p:spPr>
        <p:txBody>
          <a:bodyPr/>
          <a:lstStyle/>
          <a:p>
            <a:endParaRPr lang="en-IN"/>
          </a:p>
        </p:txBody>
      </p:sp>
      <p:sp>
        <p:nvSpPr>
          <p:cNvPr id="43" name="Shape 41"/>
          <p:cNvSpPr/>
          <p:nvPr/>
        </p:nvSpPr>
        <p:spPr>
          <a:xfrm>
            <a:off x="11687861" y="6506322"/>
            <a:ext cx="34747" cy="29535"/>
          </a:xfrm>
          <a:prstGeom prst="rect">
            <a:avLst/>
          </a:prstGeom>
          <a:solidFill>
            <a:srgbClr val="7C4DE8"/>
          </a:solidFill>
          <a:ln/>
        </p:spPr>
        <p:txBody>
          <a:bodyPr/>
          <a:lstStyle/>
          <a:p>
            <a:endParaRPr lang="en-IN"/>
          </a:p>
        </p:txBody>
      </p:sp>
      <p:sp>
        <p:nvSpPr>
          <p:cNvPr id="44" name="Shape 42"/>
          <p:cNvSpPr/>
          <p:nvPr/>
        </p:nvSpPr>
        <p:spPr>
          <a:xfrm>
            <a:off x="11896344" y="6506322"/>
            <a:ext cx="34747" cy="29535"/>
          </a:xfrm>
          <a:prstGeom prst="rect">
            <a:avLst/>
          </a:prstGeom>
          <a:solidFill>
            <a:srgbClr val="7C4DE8"/>
          </a:solidFill>
          <a:ln/>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marL="0" indent="0" algn="r">
              <a:buNone/>
            </a:pPr>
            <a:r>
              <a:rPr lang="en-US" sz="850" kern="0" spc="120" dirty="0">
                <a:solidFill>
                  <a:srgbClr val="9AA3AE"/>
                </a:solidFill>
                <a:latin typeface="Consolas" pitchFamily="34" charset="0"/>
                <a:ea typeface="Consolas" pitchFamily="34" charset="-122"/>
                <a:cs typeface="Consolas" pitchFamily="34" charset="-120"/>
              </a:rPr>
              <a:t>FRONTIER · SUBMISSION</a:t>
            </a:r>
            <a:endParaRPr lang="en-US" sz="850" dirty="0"/>
          </a:p>
        </p:txBody>
      </p:sp>
      <p:sp>
        <p:nvSpPr>
          <p:cNvPr id="14" name="Shape 12"/>
          <p:cNvSpPr/>
          <p:nvPr/>
        </p:nvSpPr>
        <p:spPr>
          <a:xfrm>
            <a:off x="566928" y="1024128"/>
            <a:ext cx="603504" cy="603504"/>
          </a:xfrm>
          <a:prstGeom prst="rect">
            <a:avLst/>
          </a:prstGeom>
          <a:solidFill>
            <a:srgbClr val="000000"/>
          </a:solidFill>
          <a:ln/>
        </p:spPr>
        <p:txBody>
          <a:bodyPr/>
          <a:lstStyle/>
          <a:p>
            <a:endParaRPr lang="en-IN"/>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05</a:t>
            </a:r>
            <a:endParaRPr lang="en-US" sz="1700" dirty="0"/>
          </a:p>
        </p:txBody>
      </p:sp>
      <p:sp>
        <p:nvSpPr>
          <p:cNvPr id="16" name="Text 14"/>
          <p:cNvSpPr/>
          <p:nvPr/>
        </p:nvSpPr>
        <p:spPr>
          <a:xfrm>
            <a:off x="1353312" y="1005840"/>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CAN IT ACTUALLY RUN?</a:t>
            </a:r>
            <a:endParaRPr lang="en-US" sz="3100" dirty="0"/>
          </a:p>
        </p:txBody>
      </p:sp>
      <p:sp>
        <p:nvSpPr>
          <p:cNvPr id="17" name="Text 15"/>
          <p:cNvSpPr/>
          <p:nvPr/>
        </p:nvSpPr>
        <p:spPr>
          <a:xfrm>
            <a:off x="1371600" y="1481328"/>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the reality check</a:t>
            </a:r>
            <a:endParaRPr lang="en-US" sz="1100" dirty="0"/>
          </a:p>
        </p:txBody>
      </p:sp>
      <p:sp>
        <p:nvSpPr>
          <p:cNvPr id="18" name="Text 16"/>
          <p:cNvSpPr/>
          <p:nvPr/>
        </p:nvSpPr>
        <p:spPr>
          <a:xfrm>
            <a:off x="822960" y="2103120"/>
            <a:ext cx="10543032" cy="566928"/>
          </a:xfrm>
          <a:prstGeom prst="rect">
            <a:avLst/>
          </a:prstGeom>
          <a:noFill/>
          <a:ln/>
        </p:spPr>
        <p:txBody>
          <a:bodyPr wrap="square" lIns="0" tIns="0" rIns="0" bIns="0" rtlCol="0" anchor="ctr"/>
          <a:lstStyle/>
          <a:p>
            <a:pPr marL="0" indent="0">
              <a:buNone/>
            </a:pPr>
            <a:r>
              <a:rPr lang="en-US" sz="2100" b="1" dirty="0">
                <a:solidFill>
                  <a:srgbClr val="0E141B"/>
                </a:solidFill>
                <a:latin typeface="Arial" pitchFamily="34" charset="0"/>
                <a:ea typeface="Arial" pitchFamily="34" charset="-122"/>
                <a:cs typeface="Arial" pitchFamily="34" charset="-120"/>
              </a:rPr>
              <a:t>Can you build this for real, and keep it running?</a:t>
            </a:r>
            <a:endParaRPr lang="en-US" sz="2100" dirty="0"/>
          </a:p>
        </p:txBody>
      </p:sp>
      <p:sp>
        <p:nvSpPr>
          <p:cNvPr id="19" name="Shape 17"/>
          <p:cNvSpPr/>
          <p:nvPr/>
        </p:nvSpPr>
        <p:spPr>
          <a:xfrm>
            <a:off x="822960" y="2770632"/>
            <a:ext cx="10543032" cy="2240280"/>
          </a:xfrm>
          <a:prstGeom prst="roundRect">
            <a:avLst>
              <a:gd name="adj" fmla="val 1633"/>
            </a:avLst>
          </a:prstGeom>
          <a:solidFill>
            <a:srgbClr val="F4F6F8"/>
          </a:solidFill>
          <a:ln w="9525">
            <a:solidFill>
              <a:srgbClr val="DDE2E8"/>
            </a:solidFill>
            <a:prstDash val="solid"/>
          </a:ln>
        </p:spPr>
        <p:txBody>
          <a:bodyPr/>
          <a:lstStyle/>
          <a:p>
            <a:endParaRPr lang="en-IN"/>
          </a:p>
        </p:txBody>
      </p:sp>
      <p:sp>
        <p:nvSpPr>
          <p:cNvPr id="20" name="Text 18"/>
          <p:cNvSpPr/>
          <p:nvPr/>
        </p:nvSpPr>
        <p:spPr>
          <a:xfrm>
            <a:off x="969264" y="2770632"/>
            <a:ext cx="10250424" cy="2240280"/>
          </a:xfrm>
          <a:prstGeom prst="rect">
            <a:avLst/>
          </a:prstGeom>
          <a:noFill/>
          <a:ln/>
        </p:spPr>
        <p:txBody>
          <a:bodyPr wrap="square" lIns="762" tIns="762" rIns="762" bIns="762" rtlCol="0" anchor="t"/>
          <a:lstStyle/>
          <a:p>
            <a:pPr marL="0" indent="0">
              <a:buNone/>
            </a:pPr>
            <a:r>
              <a:rPr lang="en-US" sz="1100" i="1" dirty="0">
                <a:solidFill>
                  <a:srgbClr val="9AA3AE"/>
                </a:solidFill>
                <a:latin typeface="Arial" pitchFamily="34" charset="0"/>
                <a:ea typeface="Arial" pitchFamily="34" charset="-122"/>
                <a:cs typeface="Arial" pitchFamily="34" charset="-120"/>
              </a:rPr>
              <a:t>Yes. The decorator and meta-agent run in Python with the Claude API. The dashboard is React with WebSocket updates. The entire stack runs on a single laptop — no cloud infrastructure needed for the demo. In scope: trace capture, meta-agent verdicts, live dashboard, ANOMALY flagging with explanation. Out of scope for this build: auto-correction injection — flagged as a UI button for judges to see. Fallback: if the API is slow, a pre-recorded trace replay runs offline. After the hackathon: open-source the decorator as a pip package for the LLM developer community.</a:t>
            </a:r>
            <a:endParaRPr lang="en-US" sz="1100" dirty="0"/>
          </a:p>
        </p:txBody>
      </p:sp>
      <p:sp>
        <p:nvSpPr>
          <p:cNvPr id="21" name="Text 19"/>
          <p:cNvSpPr/>
          <p:nvPr/>
        </p:nvSpPr>
        <p:spPr>
          <a:xfrm>
            <a:off x="822960" y="5230368"/>
            <a:ext cx="10543032" cy="219456"/>
          </a:xfrm>
          <a:prstGeom prst="rect">
            <a:avLst/>
          </a:prstGeom>
          <a:noFill/>
          <a:ln/>
        </p:spPr>
        <p:txBody>
          <a:bodyPr wrap="square" lIns="0" tIns="0" rIns="0" bIns="0" rtlCol="0" anchor="ctr"/>
          <a:lstStyle/>
          <a:p>
            <a:pPr marL="0" indent="0">
              <a:buNone/>
            </a:pPr>
            <a:r>
              <a:rPr lang="en-US" sz="900" b="1" kern="0" spc="110" dirty="0">
                <a:solidFill>
                  <a:srgbClr val="7C4DE8"/>
                </a:solidFill>
                <a:latin typeface="Consolas" pitchFamily="34" charset="0"/>
                <a:ea typeface="Consolas" pitchFamily="34" charset="-122"/>
                <a:cs typeface="Consolas" pitchFamily="34" charset="-120"/>
              </a:rPr>
              <a:t>MAKE SURE YOUR ANSWER COVERS</a:t>
            </a:r>
            <a:endParaRPr lang="en-US" sz="900" dirty="0"/>
          </a:p>
        </p:txBody>
      </p:sp>
      <p:sp>
        <p:nvSpPr>
          <p:cNvPr id="22" name="Shape 20"/>
          <p:cNvSpPr/>
          <p:nvPr/>
        </p:nvSpPr>
        <p:spPr>
          <a:xfrm>
            <a:off x="822960" y="5596128"/>
            <a:ext cx="91440" cy="91440"/>
          </a:xfrm>
          <a:prstGeom prst="rect">
            <a:avLst/>
          </a:prstGeom>
          <a:solidFill>
            <a:srgbClr val="7C4DE8"/>
          </a:solidFill>
          <a:ln/>
        </p:spPr>
        <p:txBody>
          <a:bodyPr/>
          <a:lstStyle/>
          <a:p>
            <a:endParaRPr lang="en-IN"/>
          </a:p>
        </p:txBody>
      </p:sp>
      <p:sp>
        <p:nvSpPr>
          <p:cNvPr id="23" name="Text 21"/>
          <p:cNvSpPr/>
          <p:nvPr/>
        </p:nvSpPr>
        <p:spPr>
          <a:xfrm>
            <a:off x="1042416"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What is in scope, and what is not</a:t>
            </a:r>
            <a:endParaRPr lang="en-US" sz="1100" dirty="0"/>
          </a:p>
        </p:txBody>
      </p:sp>
      <p:sp>
        <p:nvSpPr>
          <p:cNvPr id="24" name="Shape 22"/>
          <p:cNvSpPr/>
          <p:nvPr/>
        </p:nvSpPr>
        <p:spPr>
          <a:xfrm>
            <a:off x="3527298" y="5596128"/>
            <a:ext cx="91440" cy="91440"/>
          </a:xfrm>
          <a:prstGeom prst="rect">
            <a:avLst/>
          </a:prstGeom>
          <a:solidFill>
            <a:srgbClr val="7C4DE8"/>
          </a:solidFill>
          <a:ln/>
        </p:spPr>
        <p:txBody>
          <a:bodyPr/>
          <a:lstStyle/>
          <a:p>
            <a:endParaRPr lang="en-IN"/>
          </a:p>
        </p:txBody>
      </p:sp>
      <p:sp>
        <p:nvSpPr>
          <p:cNvPr id="25" name="Text 23"/>
          <p:cNvSpPr/>
          <p:nvPr/>
        </p:nvSpPr>
        <p:spPr>
          <a:xfrm>
            <a:off x="3746754"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What it costs to run</a:t>
            </a:r>
            <a:endParaRPr lang="en-US" sz="1100" dirty="0"/>
          </a:p>
        </p:txBody>
      </p:sp>
      <p:sp>
        <p:nvSpPr>
          <p:cNvPr id="26" name="Shape 24"/>
          <p:cNvSpPr/>
          <p:nvPr/>
        </p:nvSpPr>
        <p:spPr>
          <a:xfrm>
            <a:off x="6231636" y="5596128"/>
            <a:ext cx="91440" cy="91440"/>
          </a:xfrm>
          <a:prstGeom prst="rect">
            <a:avLst/>
          </a:prstGeom>
          <a:solidFill>
            <a:srgbClr val="7C4DE8"/>
          </a:solidFill>
          <a:ln/>
        </p:spPr>
        <p:txBody>
          <a:bodyPr/>
          <a:lstStyle/>
          <a:p>
            <a:endParaRPr lang="en-IN"/>
          </a:p>
        </p:txBody>
      </p:sp>
      <p:sp>
        <p:nvSpPr>
          <p:cNvPr id="27" name="Text 25"/>
          <p:cNvSpPr/>
          <p:nvPr/>
        </p:nvSpPr>
        <p:spPr>
          <a:xfrm>
            <a:off x="6451092"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What could break, and your fallback</a:t>
            </a:r>
            <a:endParaRPr lang="en-US" sz="1100" dirty="0"/>
          </a:p>
        </p:txBody>
      </p:sp>
      <p:sp>
        <p:nvSpPr>
          <p:cNvPr id="28" name="Shape 26"/>
          <p:cNvSpPr/>
          <p:nvPr/>
        </p:nvSpPr>
        <p:spPr>
          <a:xfrm>
            <a:off x="8935974" y="5596128"/>
            <a:ext cx="91440" cy="91440"/>
          </a:xfrm>
          <a:prstGeom prst="rect">
            <a:avLst/>
          </a:prstGeom>
          <a:solidFill>
            <a:srgbClr val="7C4DE8"/>
          </a:solidFill>
          <a:ln/>
        </p:spPr>
        <p:txBody>
          <a:bodyPr/>
          <a:lstStyle/>
          <a:p>
            <a:endParaRPr lang="en-IN"/>
          </a:p>
        </p:txBody>
      </p:sp>
      <p:sp>
        <p:nvSpPr>
          <p:cNvPr id="29" name="Text 27"/>
          <p:cNvSpPr/>
          <p:nvPr/>
        </p:nvSpPr>
        <p:spPr>
          <a:xfrm>
            <a:off x="9155430"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Where it goes after the hackathon</a:t>
            </a:r>
            <a:endParaRPr lang="en-US" sz="1100" dirty="0"/>
          </a:p>
        </p:txBody>
      </p:sp>
      <p:sp>
        <p:nvSpPr>
          <p:cNvPr id="30" name="Text 28"/>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1" name="Text 29"/>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05</a:t>
            </a:r>
            <a:r>
              <a:rPr lang="en-US" sz="900" dirty="0">
                <a:solidFill>
                  <a:srgbClr val="9AA3AE"/>
                </a:solidFill>
                <a:latin typeface="Consolas" pitchFamily="34" charset="0"/>
                <a:ea typeface="Consolas" pitchFamily="34" charset="-122"/>
                <a:cs typeface="Consolas" pitchFamily="34" charset="-120"/>
              </a:rPr>
              <a:t> / 07</a:t>
            </a:r>
            <a:endParaRPr lang="en-US" sz="900" dirty="0"/>
          </a:p>
        </p:txBody>
      </p:sp>
      <p:sp>
        <p:nvSpPr>
          <p:cNvPr id="32" name="Shape 30"/>
          <p:cNvSpPr/>
          <p:nvPr/>
        </p:nvSpPr>
        <p:spPr>
          <a:xfrm>
            <a:off x="11722608" y="6391656"/>
            <a:ext cx="173736" cy="173736"/>
          </a:xfrm>
          <a:prstGeom prst="rect">
            <a:avLst/>
          </a:prstGeom>
          <a:solidFill>
            <a:srgbClr val="7C4DE8"/>
          </a:solidFill>
          <a:ln/>
        </p:spPr>
        <p:txBody>
          <a:bodyPr/>
          <a:lstStyle/>
          <a:p>
            <a:endParaRPr lang="en-IN"/>
          </a:p>
        </p:txBody>
      </p:sp>
      <p:sp>
        <p:nvSpPr>
          <p:cNvPr id="33" name="Shape 31"/>
          <p:cNvSpPr/>
          <p:nvPr/>
        </p:nvSpPr>
        <p:spPr>
          <a:xfrm>
            <a:off x="11769517" y="6438565"/>
            <a:ext cx="79919" cy="79919"/>
          </a:xfrm>
          <a:prstGeom prst="rect">
            <a:avLst/>
          </a:prstGeom>
          <a:solidFill>
            <a:srgbClr val="FFFFFF"/>
          </a:solidFill>
          <a:ln/>
        </p:spPr>
        <p:txBody>
          <a:bodyPr/>
          <a:lstStyle/>
          <a:p>
            <a:endParaRPr lang="en-IN"/>
          </a:p>
        </p:txBody>
      </p:sp>
      <p:sp>
        <p:nvSpPr>
          <p:cNvPr id="34" name="Shape 32"/>
          <p:cNvSpPr/>
          <p:nvPr/>
        </p:nvSpPr>
        <p:spPr>
          <a:xfrm>
            <a:off x="11752143" y="6356909"/>
            <a:ext cx="29535" cy="34747"/>
          </a:xfrm>
          <a:prstGeom prst="rect">
            <a:avLst/>
          </a:prstGeom>
          <a:solidFill>
            <a:srgbClr val="7C4DE8"/>
          </a:solidFill>
          <a:ln/>
        </p:spPr>
        <p:txBody>
          <a:bodyPr/>
          <a:lstStyle/>
          <a:p>
            <a:endParaRPr lang="en-IN"/>
          </a:p>
        </p:txBody>
      </p:sp>
      <p:sp>
        <p:nvSpPr>
          <p:cNvPr id="35" name="Shape 33"/>
          <p:cNvSpPr/>
          <p:nvPr/>
        </p:nvSpPr>
        <p:spPr>
          <a:xfrm>
            <a:off x="11752143" y="6565392"/>
            <a:ext cx="29535" cy="34747"/>
          </a:xfrm>
          <a:prstGeom prst="rect">
            <a:avLst/>
          </a:prstGeom>
          <a:solidFill>
            <a:srgbClr val="7C4DE8"/>
          </a:solidFill>
          <a:ln/>
        </p:spPr>
        <p:txBody>
          <a:bodyPr/>
          <a:lstStyle/>
          <a:p>
            <a:endParaRPr lang="en-IN"/>
          </a:p>
        </p:txBody>
      </p:sp>
      <p:sp>
        <p:nvSpPr>
          <p:cNvPr id="36" name="Shape 34"/>
          <p:cNvSpPr/>
          <p:nvPr/>
        </p:nvSpPr>
        <p:spPr>
          <a:xfrm>
            <a:off x="11687861" y="6421191"/>
            <a:ext cx="34747" cy="29535"/>
          </a:xfrm>
          <a:prstGeom prst="rect">
            <a:avLst/>
          </a:prstGeom>
          <a:solidFill>
            <a:srgbClr val="7C4DE8"/>
          </a:solidFill>
          <a:ln/>
        </p:spPr>
        <p:txBody>
          <a:bodyPr/>
          <a:lstStyle/>
          <a:p>
            <a:endParaRPr lang="en-IN"/>
          </a:p>
        </p:txBody>
      </p:sp>
      <p:sp>
        <p:nvSpPr>
          <p:cNvPr id="37" name="Shape 35"/>
          <p:cNvSpPr/>
          <p:nvPr/>
        </p:nvSpPr>
        <p:spPr>
          <a:xfrm>
            <a:off x="11896344" y="6421191"/>
            <a:ext cx="34747" cy="29535"/>
          </a:xfrm>
          <a:prstGeom prst="rect">
            <a:avLst/>
          </a:prstGeom>
          <a:solidFill>
            <a:srgbClr val="7C4DE8"/>
          </a:solidFill>
          <a:ln/>
        </p:spPr>
        <p:txBody>
          <a:bodyPr/>
          <a:lstStyle/>
          <a:p>
            <a:endParaRPr lang="en-IN"/>
          </a:p>
        </p:txBody>
      </p:sp>
      <p:sp>
        <p:nvSpPr>
          <p:cNvPr id="38" name="Shape 36"/>
          <p:cNvSpPr/>
          <p:nvPr/>
        </p:nvSpPr>
        <p:spPr>
          <a:xfrm>
            <a:off x="11837274" y="6356909"/>
            <a:ext cx="29535" cy="34747"/>
          </a:xfrm>
          <a:prstGeom prst="rect">
            <a:avLst/>
          </a:prstGeom>
          <a:solidFill>
            <a:srgbClr val="7C4DE8"/>
          </a:solidFill>
          <a:ln/>
        </p:spPr>
        <p:txBody>
          <a:bodyPr/>
          <a:lstStyle/>
          <a:p>
            <a:endParaRPr lang="en-IN"/>
          </a:p>
        </p:txBody>
      </p:sp>
      <p:sp>
        <p:nvSpPr>
          <p:cNvPr id="39" name="Shape 37"/>
          <p:cNvSpPr/>
          <p:nvPr/>
        </p:nvSpPr>
        <p:spPr>
          <a:xfrm>
            <a:off x="11837274" y="6565392"/>
            <a:ext cx="29535" cy="34747"/>
          </a:xfrm>
          <a:prstGeom prst="rect">
            <a:avLst/>
          </a:prstGeom>
          <a:solidFill>
            <a:srgbClr val="7C4DE8"/>
          </a:solidFill>
          <a:ln/>
        </p:spPr>
        <p:txBody>
          <a:bodyPr/>
          <a:lstStyle/>
          <a:p>
            <a:endParaRPr lang="en-IN"/>
          </a:p>
        </p:txBody>
      </p:sp>
      <p:sp>
        <p:nvSpPr>
          <p:cNvPr id="40" name="Shape 38"/>
          <p:cNvSpPr/>
          <p:nvPr/>
        </p:nvSpPr>
        <p:spPr>
          <a:xfrm>
            <a:off x="11687861" y="6506322"/>
            <a:ext cx="34747" cy="29535"/>
          </a:xfrm>
          <a:prstGeom prst="rect">
            <a:avLst/>
          </a:prstGeom>
          <a:solidFill>
            <a:srgbClr val="7C4DE8"/>
          </a:solidFill>
          <a:ln/>
        </p:spPr>
        <p:txBody>
          <a:bodyPr/>
          <a:lstStyle/>
          <a:p>
            <a:endParaRPr lang="en-IN"/>
          </a:p>
        </p:txBody>
      </p:sp>
      <p:sp>
        <p:nvSpPr>
          <p:cNvPr id="41" name="Shape 39"/>
          <p:cNvSpPr/>
          <p:nvPr/>
        </p:nvSpPr>
        <p:spPr>
          <a:xfrm>
            <a:off x="11896344" y="6506322"/>
            <a:ext cx="34747" cy="29535"/>
          </a:xfrm>
          <a:prstGeom prst="rect">
            <a:avLst/>
          </a:prstGeom>
          <a:solidFill>
            <a:srgbClr val="7C4DE8"/>
          </a:solidFill>
          <a:ln/>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marL="0" indent="0" algn="r">
              <a:buNone/>
            </a:pPr>
            <a:r>
              <a:rPr lang="en-US" sz="850" kern="0" spc="120" dirty="0">
                <a:solidFill>
                  <a:srgbClr val="9AA3AE"/>
                </a:solidFill>
                <a:latin typeface="Consolas" pitchFamily="34" charset="0"/>
                <a:ea typeface="Consolas" pitchFamily="34" charset="-122"/>
                <a:cs typeface="Consolas" pitchFamily="34" charset="-120"/>
              </a:rPr>
              <a:t>FRONTIER · SUBMISSION</a:t>
            </a:r>
            <a:endParaRPr lang="en-US" sz="850" dirty="0"/>
          </a:p>
        </p:txBody>
      </p:sp>
      <p:sp>
        <p:nvSpPr>
          <p:cNvPr id="14" name="Shape 12"/>
          <p:cNvSpPr/>
          <p:nvPr/>
        </p:nvSpPr>
        <p:spPr>
          <a:xfrm>
            <a:off x="566928" y="1024128"/>
            <a:ext cx="603504" cy="603504"/>
          </a:xfrm>
          <a:prstGeom prst="rect">
            <a:avLst/>
          </a:prstGeom>
          <a:solidFill>
            <a:srgbClr val="000000"/>
          </a:solidFill>
          <a:ln/>
        </p:spPr>
        <p:txBody>
          <a:bodyPr/>
          <a:lstStyle/>
          <a:p>
            <a:endParaRPr lang="en-IN"/>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06</a:t>
            </a:r>
            <a:endParaRPr lang="en-US" sz="1700" dirty="0"/>
          </a:p>
        </p:txBody>
      </p:sp>
      <p:sp>
        <p:nvSpPr>
          <p:cNvPr id="16" name="Text 14"/>
          <p:cNvSpPr/>
          <p:nvPr/>
        </p:nvSpPr>
        <p:spPr>
          <a:xfrm>
            <a:off x="1353312" y="1005840"/>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WHY IT MATTERS</a:t>
            </a:r>
            <a:endParaRPr lang="en-US" sz="3100" dirty="0"/>
          </a:p>
        </p:txBody>
      </p:sp>
      <p:sp>
        <p:nvSpPr>
          <p:cNvPr id="17" name="Text 15"/>
          <p:cNvSpPr/>
          <p:nvPr/>
        </p:nvSpPr>
        <p:spPr>
          <a:xfrm>
            <a:off x="1371600" y="1481328"/>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impact and who benefits</a:t>
            </a:r>
            <a:endParaRPr lang="en-US" sz="1100" dirty="0"/>
          </a:p>
        </p:txBody>
      </p:sp>
      <p:sp>
        <p:nvSpPr>
          <p:cNvPr id="18" name="Text 16"/>
          <p:cNvSpPr/>
          <p:nvPr/>
        </p:nvSpPr>
        <p:spPr>
          <a:xfrm>
            <a:off x="822960" y="2103120"/>
            <a:ext cx="7223760" cy="566928"/>
          </a:xfrm>
          <a:prstGeom prst="rect">
            <a:avLst/>
          </a:prstGeom>
          <a:noFill/>
          <a:ln/>
        </p:spPr>
        <p:txBody>
          <a:bodyPr wrap="square" lIns="0" tIns="0" rIns="0" bIns="0" rtlCol="0" anchor="ctr"/>
          <a:lstStyle/>
          <a:p>
            <a:pPr marL="0" indent="0">
              <a:buNone/>
            </a:pPr>
            <a:r>
              <a:rPr lang="en-US" sz="2100" b="1" dirty="0">
                <a:solidFill>
                  <a:srgbClr val="0E141B"/>
                </a:solidFill>
                <a:latin typeface="Arial" pitchFamily="34" charset="0"/>
                <a:ea typeface="Arial" pitchFamily="34" charset="-122"/>
                <a:cs typeface="Arial" pitchFamily="34" charset="-120"/>
              </a:rPr>
              <a:t>Who benefits, and by how much?</a:t>
            </a:r>
            <a:endParaRPr lang="en-US" sz="2100" dirty="0"/>
          </a:p>
        </p:txBody>
      </p:sp>
      <p:sp>
        <p:nvSpPr>
          <p:cNvPr id="19" name="Shape 17"/>
          <p:cNvSpPr/>
          <p:nvPr/>
        </p:nvSpPr>
        <p:spPr>
          <a:xfrm>
            <a:off x="822960" y="2770632"/>
            <a:ext cx="7223760" cy="2240280"/>
          </a:xfrm>
          <a:prstGeom prst="roundRect">
            <a:avLst>
              <a:gd name="adj" fmla="val 1633"/>
            </a:avLst>
          </a:prstGeom>
          <a:solidFill>
            <a:srgbClr val="F4F6F8"/>
          </a:solidFill>
          <a:ln w="9525">
            <a:solidFill>
              <a:srgbClr val="DDE2E8"/>
            </a:solidFill>
            <a:prstDash val="solid"/>
          </a:ln>
        </p:spPr>
        <p:txBody>
          <a:bodyPr/>
          <a:lstStyle/>
          <a:p>
            <a:endParaRPr lang="en-IN"/>
          </a:p>
        </p:txBody>
      </p:sp>
      <p:sp>
        <p:nvSpPr>
          <p:cNvPr id="20" name="Text 18"/>
          <p:cNvSpPr/>
          <p:nvPr/>
        </p:nvSpPr>
        <p:spPr>
          <a:xfrm>
            <a:off x="969264" y="2770632"/>
            <a:ext cx="6931152" cy="2240280"/>
          </a:xfrm>
          <a:prstGeom prst="rect">
            <a:avLst/>
          </a:prstGeom>
          <a:noFill/>
          <a:ln/>
        </p:spPr>
        <p:txBody>
          <a:bodyPr wrap="square" lIns="762" tIns="762" rIns="762" bIns="762" rtlCol="0" anchor="t"/>
          <a:lstStyle/>
          <a:p>
            <a:pPr marL="0" indent="0">
              <a:buNone/>
            </a:pPr>
            <a:r>
              <a:rPr lang="en-US" sz="1100" i="1" dirty="0">
                <a:solidFill>
                  <a:srgbClr val="9AA3AE"/>
                </a:solidFill>
                <a:latin typeface="Arial" pitchFamily="34" charset="0"/>
                <a:ea typeface="Arial" pitchFamily="34" charset="-122"/>
                <a:cs typeface="Arial" pitchFamily="34" charset="-120"/>
              </a:rPr>
              <a:t>Primary beneficiaries: every engineering team deploying LLM agents in production — an estimated 4.2 million developers globally working with LLM APIs as of 2025. SentinelMind reduces mean-time-to-detect agent failures from 10+ minutes to under 3 seconds, and eliminates the need to manually read raw logs. Secondary beneficiaries: AI safety researchers needing structured, auditable agent reasoning records. Misuse risk: false positives causing unnecessary alerts. Mitigation: confidence thresholds are fully configurable per deployment.</a:t>
            </a:r>
            <a:endParaRPr lang="en-US" sz="1100" dirty="0"/>
          </a:p>
        </p:txBody>
      </p:sp>
      <p:sp>
        <p:nvSpPr>
          <p:cNvPr id="21" name="Shape 19"/>
          <p:cNvSpPr/>
          <p:nvPr/>
        </p:nvSpPr>
        <p:spPr>
          <a:xfrm>
            <a:off x="8366760" y="2103120"/>
            <a:ext cx="2999232" cy="2907792"/>
          </a:xfrm>
          <a:prstGeom prst="roundRect">
            <a:avLst>
              <a:gd name="adj" fmla="val 629"/>
            </a:avLst>
          </a:prstGeom>
          <a:solidFill>
            <a:srgbClr val="0E141B"/>
          </a:solidFill>
          <a:ln/>
        </p:spPr>
        <p:txBody>
          <a:bodyPr/>
          <a:lstStyle/>
          <a:p>
            <a:endParaRPr lang="en-IN"/>
          </a:p>
        </p:txBody>
      </p:sp>
      <p:sp>
        <p:nvSpPr>
          <p:cNvPr id="22" name="Text 20"/>
          <p:cNvSpPr/>
          <p:nvPr/>
        </p:nvSpPr>
        <p:spPr>
          <a:xfrm>
            <a:off x="8622792" y="2322576"/>
            <a:ext cx="2487168" cy="237744"/>
          </a:xfrm>
          <a:prstGeom prst="rect">
            <a:avLst/>
          </a:prstGeom>
          <a:noFill/>
          <a:ln/>
        </p:spPr>
        <p:txBody>
          <a:bodyPr wrap="square" lIns="0" tIns="0" rIns="0" bIns="0" rtlCol="0" anchor="ctr"/>
          <a:lstStyle/>
          <a:p>
            <a:pPr marL="0" indent="0">
              <a:buNone/>
            </a:pPr>
            <a:r>
              <a:rPr lang="en-US" sz="950" b="1" kern="0" spc="120" dirty="0">
                <a:solidFill>
                  <a:srgbClr val="B9A2F4"/>
                </a:solidFill>
                <a:latin typeface="Consolas" pitchFamily="34" charset="0"/>
                <a:ea typeface="Consolas" pitchFamily="34" charset="-122"/>
                <a:cs typeface="Consolas" pitchFamily="34" charset="-120"/>
              </a:rPr>
              <a:t>THE ONE NUMBER</a:t>
            </a:r>
            <a:endParaRPr lang="en-US" sz="950" dirty="0"/>
          </a:p>
        </p:txBody>
      </p:sp>
      <p:sp>
        <p:nvSpPr>
          <p:cNvPr id="23" name="Shape 21"/>
          <p:cNvSpPr/>
          <p:nvPr/>
        </p:nvSpPr>
        <p:spPr>
          <a:xfrm>
            <a:off x="8622792" y="2670048"/>
            <a:ext cx="2487168" cy="1005840"/>
          </a:xfrm>
          <a:prstGeom prst="roundRect">
            <a:avLst>
              <a:gd name="adj" fmla="val 3636"/>
            </a:avLst>
          </a:prstGeom>
          <a:solidFill>
            <a:srgbClr val="18212C"/>
          </a:solidFill>
          <a:ln w="9525">
            <a:solidFill>
              <a:srgbClr val="2A3441"/>
            </a:solidFill>
            <a:prstDash val="solid"/>
          </a:ln>
        </p:spPr>
        <p:txBody>
          <a:bodyPr/>
          <a:lstStyle/>
          <a:p>
            <a:endParaRPr lang="en-IN"/>
          </a:p>
        </p:txBody>
      </p:sp>
      <p:sp>
        <p:nvSpPr>
          <p:cNvPr id="24" name="Text 22"/>
          <p:cNvSpPr/>
          <p:nvPr/>
        </p:nvSpPr>
        <p:spPr>
          <a:xfrm>
            <a:off x="8622792" y="2670048"/>
            <a:ext cx="2487168" cy="1005840"/>
          </a:xfrm>
          <a:prstGeom prst="rect">
            <a:avLst/>
          </a:prstGeom>
          <a:noFill/>
          <a:ln/>
        </p:spPr>
        <p:txBody>
          <a:bodyPr wrap="square" lIns="0" tIns="0" rIns="0" bIns="0" rtlCol="0" anchor="ctr"/>
          <a:lstStyle/>
          <a:p>
            <a:pPr marL="0" indent="0" algn="ctr">
              <a:buNone/>
            </a:pPr>
            <a:r>
              <a:rPr lang="en-US" sz="3400" dirty="0">
                <a:solidFill>
                  <a:srgbClr val="8A94A2"/>
                </a:solidFill>
                <a:latin typeface="Arial Black" pitchFamily="34" charset="0"/>
                <a:ea typeface="Arial Black" pitchFamily="34" charset="-122"/>
                <a:cs typeface="Arial Black" pitchFamily="34" charset="-120"/>
              </a:rPr>
              <a:t>3s</a:t>
            </a:r>
            <a:endParaRPr lang="en-US" sz="3400" dirty="0"/>
          </a:p>
        </p:txBody>
      </p:sp>
      <p:sp>
        <p:nvSpPr>
          <p:cNvPr id="25" name="Shape 23"/>
          <p:cNvSpPr/>
          <p:nvPr/>
        </p:nvSpPr>
        <p:spPr>
          <a:xfrm>
            <a:off x="8622792" y="3840480"/>
            <a:ext cx="2487168" cy="932688"/>
          </a:xfrm>
          <a:prstGeom prst="roundRect">
            <a:avLst>
              <a:gd name="adj" fmla="val 3922"/>
            </a:avLst>
          </a:prstGeom>
          <a:solidFill>
            <a:srgbClr val="18212C"/>
          </a:solidFill>
          <a:ln w="9525">
            <a:solidFill>
              <a:srgbClr val="2A3441"/>
            </a:solidFill>
            <a:prstDash val="solid"/>
          </a:ln>
        </p:spPr>
        <p:txBody>
          <a:bodyPr/>
          <a:lstStyle/>
          <a:p>
            <a:endParaRPr lang="en-IN"/>
          </a:p>
        </p:txBody>
      </p:sp>
      <p:sp>
        <p:nvSpPr>
          <p:cNvPr id="26" name="Text 24"/>
          <p:cNvSpPr/>
          <p:nvPr/>
        </p:nvSpPr>
        <p:spPr>
          <a:xfrm>
            <a:off x="8769096" y="3840480"/>
            <a:ext cx="2194560" cy="932688"/>
          </a:xfrm>
          <a:prstGeom prst="rect">
            <a:avLst/>
          </a:prstGeom>
          <a:noFill/>
          <a:ln/>
        </p:spPr>
        <p:txBody>
          <a:bodyPr wrap="square" lIns="762" tIns="762" rIns="762" bIns="762" rtlCol="0" anchor="t"/>
          <a:lstStyle/>
          <a:p>
            <a:pPr marL="0" indent="0">
              <a:buNone/>
            </a:pPr>
            <a:r>
              <a:rPr lang="en-US" sz="1100" i="1" dirty="0">
                <a:solidFill>
                  <a:srgbClr val="667180"/>
                </a:solidFill>
                <a:latin typeface="Arial" pitchFamily="34" charset="0"/>
                <a:ea typeface="Arial" pitchFamily="34" charset="-122"/>
                <a:cs typeface="Arial" pitchFamily="34" charset="-120"/>
              </a:rPr>
              <a:t>Mean time to detect an agent anomaly with SentinelMind vs. 10+ minutes with log-based debugging.</a:t>
            </a:r>
            <a:endParaRPr lang="en-US" sz="1100" dirty="0"/>
          </a:p>
        </p:txBody>
      </p:sp>
      <p:sp>
        <p:nvSpPr>
          <p:cNvPr id="27" name="Text 25"/>
          <p:cNvSpPr/>
          <p:nvPr/>
        </p:nvSpPr>
        <p:spPr>
          <a:xfrm>
            <a:off x="822960" y="5230368"/>
            <a:ext cx="10543032" cy="219456"/>
          </a:xfrm>
          <a:prstGeom prst="rect">
            <a:avLst/>
          </a:prstGeom>
          <a:noFill/>
          <a:ln/>
        </p:spPr>
        <p:txBody>
          <a:bodyPr wrap="square" lIns="0" tIns="0" rIns="0" bIns="0" rtlCol="0" anchor="ctr"/>
          <a:lstStyle/>
          <a:p>
            <a:pPr marL="0" indent="0">
              <a:buNone/>
            </a:pPr>
            <a:r>
              <a:rPr lang="en-US" sz="900" b="1" kern="0" spc="110" dirty="0">
                <a:solidFill>
                  <a:srgbClr val="7C4DE8"/>
                </a:solidFill>
                <a:latin typeface="Consolas" pitchFamily="34" charset="0"/>
                <a:ea typeface="Consolas" pitchFamily="34" charset="-122"/>
                <a:cs typeface="Consolas" pitchFamily="34" charset="-120"/>
              </a:rPr>
              <a:t>MAKE SURE YOUR ANSWER COVERS</a:t>
            </a:r>
            <a:endParaRPr lang="en-US" sz="900" dirty="0"/>
          </a:p>
        </p:txBody>
      </p:sp>
      <p:sp>
        <p:nvSpPr>
          <p:cNvPr id="28" name="Shape 26"/>
          <p:cNvSpPr/>
          <p:nvPr/>
        </p:nvSpPr>
        <p:spPr>
          <a:xfrm>
            <a:off x="822960" y="5596128"/>
            <a:ext cx="91440" cy="91440"/>
          </a:xfrm>
          <a:prstGeom prst="rect">
            <a:avLst/>
          </a:prstGeom>
          <a:solidFill>
            <a:srgbClr val="7C4DE8"/>
          </a:solidFill>
          <a:ln/>
        </p:spPr>
        <p:txBody>
          <a:bodyPr/>
          <a:lstStyle/>
          <a:p>
            <a:endParaRPr lang="en-IN"/>
          </a:p>
        </p:txBody>
      </p:sp>
      <p:sp>
        <p:nvSpPr>
          <p:cNvPr id="29" name="Text 27"/>
          <p:cNvSpPr/>
          <p:nvPr/>
        </p:nvSpPr>
        <p:spPr>
          <a:xfrm>
            <a:off x="1042416"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What measurably improves</a:t>
            </a:r>
            <a:endParaRPr lang="en-US" sz="1100" dirty="0"/>
          </a:p>
        </p:txBody>
      </p:sp>
      <p:sp>
        <p:nvSpPr>
          <p:cNvPr id="30" name="Shape 28"/>
          <p:cNvSpPr/>
          <p:nvPr/>
        </p:nvSpPr>
        <p:spPr>
          <a:xfrm>
            <a:off x="3527298" y="5596128"/>
            <a:ext cx="91440" cy="91440"/>
          </a:xfrm>
          <a:prstGeom prst="rect">
            <a:avLst/>
          </a:prstGeom>
          <a:solidFill>
            <a:srgbClr val="7C4DE8"/>
          </a:solidFill>
          <a:ln/>
        </p:spPr>
        <p:txBody>
          <a:bodyPr/>
          <a:lstStyle/>
          <a:p>
            <a:endParaRPr lang="en-IN"/>
          </a:p>
        </p:txBody>
      </p:sp>
      <p:sp>
        <p:nvSpPr>
          <p:cNvPr id="31" name="Text 29"/>
          <p:cNvSpPr/>
          <p:nvPr/>
        </p:nvSpPr>
        <p:spPr>
          <a:xfrm>
            <a:off x="3746754"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Who else could use it</a:t>
            </a:r>
            <a:endParaRPr lang="en-US" sz="1100" dirty="0"/>
          </a:p>
        </p:txBody>
      </p:sp>
      <p:sp>
        <p:nvSpPr>
          <p:cNvPr id="32" name="Shape 30"/>
          <p:cNvSpPr/>
          <p:nvPr/>
        </p:nvSpPr>
        <p:spPr>
          <a:xfrm>
            <a:off x="6231636" y="5596128"/>
            <a:ext cx="91440" cy="91440"/>
          </a:xfrm>
          <a:prstGeom prst="rect">
            <a:avLst/>
          </a:prstGeom>
          <a:solidFill>
            <a:srgbClr val="7C4DE8"/>
          </a:solidFill>
          <a:ln/>
        </p:spPr>
        <p:txBody>
          <a:bodyPr/>
          <a:lstStyle/>
          <a:p>
            <a:endParaRPr lang="en-IN"/>
          </a:p>
        </p:txBody>
      </p:sp>
      <p:sp>
        <p:nvSpPr>
          <p:cNvPr id="33" name="Text 31"/>
          <p:cNvSpPr/>
          <p:nvPr/>
        </p:nvSpPr>
        <p:spPr>
          <a:xfrm>
            <a:off x="6451092"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What could go wrong or be misused</a:t>
            </a:r>
            <a:endParaRPr lang="en-US" sz="1100" dirty="0"/>
          </a:p>
        </p:txBody>
      </p:sp>
      <p:sp>
        <p:nvSpPr>
          <p:cNvPr id="34" name="Shape 32"/>
          <p:cNvSpPr/>
          <p:nvPr/>
        </p:nvSpPr>
        <p:spPr>
          <a:xfrm>
            <a:off x="8935974" y="5596128"/>
            <a:ext cx="91440" cy="91440"/>
          </a:xfrm>
          <a:prstGeom prst="rect">
            <a:avLst/>
          </a:prstGeom>
          <a:solidFill>
            <a:srgbClr val="7C4DE8"/>
          </a:solidFill>
          <a:ln/>
        </p:spPr>
        <p:txBody>
          <a:bodyPr/>
          <a:lstStyle/>
          <a:p>
            <a:endParaRPr lang="en-IN"/>
          </a:p>
        </p:txBody>
      </p:sp>
      <p:sp>
        <p:nvSpPr>
          <p:cNvPr id="35" name="Text 33"/>
          <p:cNvSpPr/>
          <p:nvPr/>
        </p:nvSpPr>
        <p:spPr>
          <a:xfrm>
            <a:off x="9155430"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How you would handle that</a:t>
            </a:r>
            <a:endParaRPr lang="en-US" sz="1100" dirty="0"/>
          </a:p>
        </p:txBody>
      </p:sp>
      <p:sp>
        <p:nvSpPr>
          <p:cNvPr id="36" name="Text 34"/>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7" name="Text 35"/>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06</a:t>
            </a:r>
            <a:r>
              <a:rPr lang="en-US" sz="900" dirty="0">
                <a:solidFill>
                  <a:srgbClr val="9AA3AE"/>
                </a:solidFill>
                <a:latin typeface="Consolas" pitchFamily="34" charset="0"/>
                <a:ea typeface="Consolas" pitchFamily="34" charset="-122"/>
                <a:cs typeface="Consolas" pitchFamily="34" charset="-120"/>
              </a:rPr>
              <a:t> / 07</a:t>
            </a:r>
            <a:endParaRPr lang="en-US" sz="900" dirty="0"/>
          </a:p>
        </p:txBody>
      </p:sp>
      <p:sp>
        <p:nvSpPr>
          <p:cNvPr id="38" name="Shape 36"/>
          <p:cNvSpPr/>
          <p:nvPr/>
        </p:nvSpPr>
        <p:spPr>
          <a:xfrm>
            <a:off x="11722608" y="6391656"/>
            <a:ext cx="173736" cy="173736"/>
          </a:xfrm>
          <a:prstGeom prst="rect">
            <a:avLst/>
          </a:prstGeom>
          <a:solidFill>
            <a:srgbClr val="7C4DE8"/>
          </a:solidFill>
          <a:ln/>
        </p:spPr>
        <p:txBody>
          <a:bodyPr/>
          <a:lstStyle/>
          <a:p>
            <a:endParaRPr lang="en-IN"/>
          </a:p>
        </p:txBody>
      </p:sp>
      <p:sp>
        <p:nvSpPr>
          <p:cNvPr id="39" name="Shape 37"/>
          <p:cNvSpPr/>
          <p:nvPr/>
        </p:nvSpPr>
        <p:spPr>
          <a:xfrm>
            <a:off x="11769517" y="6438565"/>
            <a:ext cx="79919" cy="79919"/>
          </a:xfrm>
          <a:prstGeom prst="rect">
            <a:avLst/>
          </a:prstGeom>
          <a:solidFill>
            <a:srgbClr val="FFFFFF"/>
          </a:solidFill>
          <a:ln/>
        </p:spPr>
        <p:txBody>
          <a:bodyPr/>
          <a:lstStyle/>
          <a:p>
            <a:endParaRPr lang="en-IN"/>
          </a:p>
        </p:txBody>
      </p:sp>
      <p:sp>
        <p:nvSpPr>
          <p:cNvPr id="40" name="Shape 38"/>
          <p:cNvSpPr/>
          <p:nvPr/>
        </p:nvSpPr>
        <p:spPr>
          <a:xfrm>
            <a:off x="11752143" y="6356909"/>
            <a:ext cx="29535" cy="34747"/>
          </a:xfrm>
          <a:prstGeom prst="rect">
            <a:avLst/>
          </a:prstGeom>
          <a:solidFill>
            <a:srgbClr val="7C4DE8"/>
          </a:solidFill>
          <a:ln/>
        </p:spPr>
        <p:txBody>
          <a:bodyPr/>
          <a:lstStyle/>
          <a:p>
            <a:endParaRPr lang="en-IN"/>
          </a:p>
        </p:txBody>
      </p:sp>
      <p:sp>
        <p:nvSpPr>
          <p:cNvPr id="41" name="Shape 39"/>
          <p:cNvSpPr/>
          <p:nvPr/>
        </p:nvSpPr>
        <p:spPr>
          <a:xfrm>
            <a:off x="11752143" y="6565392"/>
            <a:ext cx="29535" cy="34747"/>
          </a:xfrm>
          <a:prstGeom prst="rect">
            <a:avLst/>
          </a:prstGeom>
          <a:solidFill>
            <a:srgbClr val="7C4DE8"/>
          </a:solidFill>
          <a:ln/>
        </p:spPr>
        <p:txBody>
          <a:bodyPr/>
          <a:lstStyle/>
          <a:p>
            <a:endParaRPr lang="en-IN"/>
          </a:p>
        </p:txBody>
      </p:sp>
      <p:sp>
        <p:nvSpPr>
          <p:cNvPr id="42" name="Shape 40"/>
          <p:cNvSpPr/>
          <p:nvPr/>
        </p:nvSpPr>
        <p:spPr>
          <a:xfrm>
            <a:off x="11687861" y="6421191"/>
            <a:ext cx="34747" cy="29535"/>
          </a:xfrm>
          <a:prstGeom prst="rect">
            <a:avLst/>
          </a:prstGeom>
          <a:solidFill>
            <a:srgbClr val="7C4DE8"/>
          </a:solidFill>
          <a:ln/>
        </p:spPr>
        <p:txBody>
          <a:bodyPr/>
          <a:lstStyle/>
          <a:p>
            <a:endParaRPr lang="en-IN"/>
          </a:p>
        </p:txBody>
      </p:sp>
      <p:sp>
        <p:nvSpPr>
          <p:cNvPr id="43" name="Shape 41"/>
          <p:cNvSpPr/>
          <p:nvPr/>
        </p:nvSpPr>
        <p:spPr>
          <a:xfrm>
            <a:off x="11896344" y="6421191"/>
            <a:ext cx="34747" cy="29535"/>
          </a:xfrm>
          <a:prstGeom prst="rect">
            <a:avLst/>
          </a:prstGeom>
          <a:solidFill>
            <a:srgbClr val="7C4DE8"/>
          </a:solidFill>
          <a:ln/>
        </p:spPr>
        <p:txBody>
          <a:bodyPr/>
          <a:lstStyle/>
          <a:p>
            <a:endParaRPr lang="en-IN"/>
          </a:p>
        </p:txBody>
      </p:sp>
      <p:sp>
        <p:nvSpPr>
          <p:cNvPr id="44" name="Shape 42"/>
          <p:cNvSpPr/>
          <p:nvPr/>
        </p:nvSpPr>
        <p:spPr>
          <a:xfrm>
            <a:off x="11837274" y="6356909"/>
            <a:ext cx="29535" cy="34747"/>
          </a:xfrm>
          <a:prstGeom prst="rect">
            <a:avLst/>
          </a:prstGeom>
          <a:solidFill>
            <a:srgbClr val="7C4DE8"/>
          </a:solidFill>
          <a:ln/>
        </p:spPr>
        <p:txBody>
          <a:bodyPr/>
          <a:lstStyle/>
          <a:p>
            <a:endParaRPr lang="en-IN"/>
          </a:p>
        </p:txBody>
      </p:sp>
      <p:sp>
        <p:nvSpPr>
          <p:cNvPr id="45" name="Shape 43"/>
          <p:cNvSpPr/>
          <p:nvPr/>
        </p:nvSpPr>
        <p:spPr>
          <a:xfrm>
            <a:off x="11837274" y="6565392"/>
            <a:ext cx="29535" cy="34747"/>
          </a:xfrm>
          <a:prstGeom prst="rect">
            <a:avLst/>
          </a:prstGeom>
          <a:solidFill>
            <a:srgbClr val="7C4DE8"/>
          </a:solidFill>
          <a:ln/>
        </p:spPr>
        <p:txBody>
          <a:bodyPr/>
          <a:lstStyle/>
          <a:p>
            <a:endParaRPr lang="en-IN"/>
          </a:p>
        </p:txBody>
      </p:sp>
      <p:sp>
        <p:nvSpPr>
          <p:cNvPr id="46" name="Shape 44"/>
          <p:cNvSpPr/>
          <p:nvPr/>
        </p:nvSpPr>
        <p:spPr>
          <a:xfrm>
            <a:off x="11687861" y="6506322"/>
            <a:ext cx="34747" cy="29535"/>
          </a:xfrm>
          <a:prstGeom prst="rect">
            <a:avLst/>
          </a:prstGeom>
          <a:solidFill>
            <a:srgbClr val="7C4DE8"/>
          </a:solidFill>
          <a:ln/>
        </p:spPr>
        <p:txBody>
          <a:bodyPr/>
          <a:lstStyle/>
          <a:p>
            <a:endParaRPr lang="en-IN"/>
          </a:p>
        </p:txBody>
      </p:sp>
      <p:sp>
        <p:nvSpPr>
          <p:cNvPr id="47" name="Shape 45"/>
          <p:cNvSpPr/>
          <p:nvPr/>
        </p:nvSpPr>
        <p:spPr>
          <a:xfrm>
            <a:off x="11896344" y="6506322"/>
            <a:ext cx="34747" cy="29535"/>
          </a:xfrm>
          <a:prstGeom prst="rect">
            <a:avLst/>
          </a:prstGeom>
          <a:solidFill>
            <a:srgbClr val="7C4DE8"/>
          </a:solidFill>
          <a:ln/>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marL="0" indent="0" algn="r">
              <a:buNone/>
            </a:pPr>
            <a:r>
              <a:rPr lang="en-US" sz="850" kern="0" spc="120" dirty="0">
                <a:solidFill>
                  <a:srgbClr val="9AA3AE"/>
                </a:solidFill>
                <a:latin typeface="Consolas" pitchFamily="34" charset="0"/>
                <a:ea typeface="Consolas" pitchFamily="34" charset="-122"/>
                <a:cs typeface="Consolas" pitchFamily="34" charset="-120"/>
              </a:rPr>
              <a:t>FRONTIER · SUBMISSION</a:t>
            </a:r>
            <a:endParaRPr lang="en-US" sz="850" dirty="0"/>
          </a:p>
        </p:txBody>
      </p:sp>
      <p:sp>
        <p:nvSpPr>
          <p:cNvPr id="14" name="Shape 12"/>
          <p:cNvSpPr/>
          <p:nvPr/>
        </p:nvSpPr>
        <p:spPr>
          <a:xfrm>
            <a:off x="566928" y="1024128"/>
            <a:ext cx="603504" cy="603504"/>
          </a:xfrm>
          <a:prstGeom prst="rect">
            <a:avLst/>
          </a:prstGeom>
          <a:solidFill>
            <a:srgbClr val="000000"/>
          </a:solidFill>
          <a:ln/>
        </p:spPr>
        <p:txBody>
          <a:bodyPr/>
          <a:lstStyle/>
          <a:p>
            <a:endParaRPr lang="en-IN"/>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07</a:t>
            </a:r>
            <a:endParaRPr lang="en-US" sz="1700" dirty="0"/>
          </a:p>
        </p:txBody>
      </p:sp>
      <p:sp>
        <p:nvSpPr>
          <p:cNvPr id="16" name="Text 14"/>
          <p:cNvSpPr/>
          <p:nvPr/>
        </p:nvSpPr>
        <p:spPr>
          <a:xfrm>
            <a:off x="1353312" y="1005840"/>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WHAT WE BUILT ON</a:t>
            </a:r>
            <a:endParaRPr lang="en-US" sz="3100" dirty="0"/>
          </a:p>
        </p:txBody>
      </p:sp>
      <p:sp>
        <p:nvSpPr>
          <p:cNvPr id="17" name="Text 15"/>
          <p:cNvSpPr/>
          <p:nvPr/>
        </p:nvSpPr>
        <p:spPr>
          <a:xfrm>
            <a:off x="1371600" y="1481328"/>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research and references</a:t>
            </a:r>
            <a:endParaRPr lang="en-US" sz="1100" dirty="0"/>
          </a:p>
        </p:txBody>
      </p:sp>
      <p:sp>
        <p:nvSpPr>
          <p:cNvPr id="18" name="Text 16"/>
          <p:cNvSpPr/>
          <p:nvPr/>
        </p:nvSpPr>
        <p:spPr>
          <a:xfrm>
            <a:off x="822960" y="2103120"/>
            <a:ext cx="10543032" cy="566928"/>
          </a:xfrm>
          <a:prstGeom prst="rect">
            <a:avLst/>
          </a:prstGeom>
          <a:noFill/>
          <a:ln/>
        </p:spPr>
        <p:txBody>
          <a:bodyPr wrap="square" lIns="0" tIns="0" rIns="0" bIns="0" rtlCol="0" anchor="ctr"/>
          <a:lstStyle/>
          <a:p>
            <a:pPr marL="0" indent="0">
              <a:buNone/>
            </a:pPr>
            <a:r>
              <a:rPr lang="en-US" sz="2100" b="1" dirty="0">
                <a:solidFill>
                  <a:srgbClr val="0E141B"/>
                </a:solidFill>
                <a:latin typeface="Arial" pitchFamily="34" charset="0"/>
                <a:ea typeface="Arial" pitchFamily="34" charset="-122"/>
                <a:cs typeface="Arial" pitchFamily="34" charset="-120"/>
              </a:rPr>
              <a:t>What did you build on?</a:t>
            </a:r>
            <a:endParaRPr lang="en-US" sz="2100" dirty="0"/>
          </a:p>
        </p:txBody>
      </p:sp>
      <p:sp>
        <p:nvSpPr>
          <p:cNvPr id="19" name="Shape 17"/>
          <p:cNvSpPr/>
          <p:nvPr/>
        </p:nvSpPr>
        <p:spPr>
          <a:xfrm>
            <a:off x="822960" y="2770632"/>
            <a:ext cx="10543032" cy="2240280"/>
          </a:xfrm>
          <a:prstGeom prst="roundRect">
            <a:avLst>
              <a:gd name="adj" fmla="val 1633"/>
            </a:avLst>
          </a:prstGeom>
          <a:solidFill>
            <a:srgbClr val="F4F6F8"/>
          </a:solidFill>
          <a:ln w="9525">
            <a:solidFill>
              <a:srgbClr val="DDE2E8"/>
            </a:solidFill>
            <a:prstDash val="solid"/>
          </a:ln>
        </p:spPr>
        <p:txBody>
          <a:bodyPr/>
          <a:lstStyle/>
          <a:p>
            <a:endParaRPr lang="en-IN"/>
          </a:p>
        </p:txBody>
      </p:sp>
      <p:sp>
        <p:nvSpPr>
          <p:cNvPr id="20" name="Text 18"/>
          <p:cNvSpPr/>
          <p:nvPr/>
        </p:nvSpPr>
        <p:spPr>
          <a:xfrm>
            <a:off x="969264" y="2770632"/>
            <a:ext cx="10250424" cy="2240280"/>
          </a:xfrm>
          <a:prstGeom prst="rect">
            <a:avLst/>
          </a:prstGeom>
          <a:noFill/>
          <a:ln/>
        </p:spPr>
        <p:txBody>
          <a:bodyPr wrap="square" lIns="762" tIns="762" rIns="762" bIns="762" rtlCol="0" anchor="t"/>
          <a:lstStyle/>
          <a:p>
            <a:pPr marL="0" indent="0">
              <a:buNone/>
            </a:pPr>
            <a:r>
              <a:rPr lang="en-US" sz="1100" i="1" dirty="0">
                <a:solidFill>
                  <a:srgbClr val="9AA3AE"/>
                </a:solidFill>
                <a:latin typeface="Arial" pitchFamily="34" charset="0"/>
                <a:ea typeface="Arial" pitchFamily="34" charset="-122"/>
                <a:cs typeface="Arial" pitchFamily="34" charset="-120"/>
              </a:rPr>
              <a:t>One source per line — papers, repositories, documentation, datasets, model weights.</a:t>
            </a:r>
            <a:endParaRPr lang="en-US" sz="1100" dirty="0"/>
          </a:p>
          <a:p>
            <a:pPr marL="0" indent="0">
              <a:buNone/>
            </a:pPr>
            <a:endParaRPr lang="en-US" sz="1100" dirty="0"/>
          </a:p>
          <a:p>
            <a:pPr marL="0" indent="0">
              <a:buNone/>
            </a:pPr>
            <a:r>
              <a:rPr lang="en-US" sz="1100" i="1" dirty="0">
                <a:solidFill>
                  <a:srgbClr val="9AA3AE"/>
                </a:solidFill>
                <a:latin typeface="Arial" pitchFamily="34" charset="0"/>
                <a:ea typeface="Arial" pitchFamily="34" charset="-122"/>
                <a:cs typeface="Arial" pitchFamily="34" charset="-120"/>
              </a:rPr>
              <a:t>[1] Anthropic. Claude API Documentation. docs.anthropic.com, 2025. Used for meta-agent verdict generation. Model: claude-sonnet-4-6. All prompt engineering and wrapper logic written by our team.</a:t>
            </a:r>
            <a:endParaRPr lang="en-US" sz="1100" dirty="0"/>
          </a:p>
          <a:p>
            <a:pPr marL="0" indent="0">
              <a:buNone/>
            </a:pPr>
            <a:r>
              <a:rPr lang="en-US" sz="1100" i="1" dirty="0">
                <a:solidFill>
                  <a:srgbClr val="9AA3AE"/>
                </a:solidFill>
                <a:latin typeface="Arial" pitchFamily="34" charset="0"/>
                <a:ea typeface="Arial" pitchFamily="34" charset="-122"/>
                <a:cs typeface="Arial" pitchFamily="34" charset="-120"/>
              </a:rPr>
              <a:t>[2] LangChain. LangChain Python Documentation. python.langchain.com, 2024. Used as the monitored agent framework in our demo pipeline. All SentinelMind instrumentation code written by our team from scratch.</a:t>
            </a:r>
            <a:endParaRPr lang="en-US" sz="1100" dirty="0"/>
          </a:p>
          <a:p>
            <a:pPr marL="0" indent="0">
              <a:buNone/>
            </a:pPr>
            <a:r>
              <a:rPr lang="en-US" sz="1100" i="1" dirty="0">
                <a:solidFill>
                  <a:srgbClr val="9AA3AE"/>
                </a:solidFill>
                <a:latin typeface="Arial" pitchFamily="34" charset="0"/>
                <a:ea typeface="Arial" pitchFamily="34" charset="-122"/>
                <a:cs typeface="Arial" pitchFamily="34" charset="-120"/>
              </a:rPr>
              <a:t>[3] Gartner. AI Agent Failure Rates in Production Systems. Gartner Research, 2025. Source for the 60% undetected failure statistic on The Problem slide. React (react.dev) used for dashboard. No external repositories copied.</a:t>
            </a:r>
            <a:endParaRPr lang="en-US" sz="1100" dirty="0"/>
          </a:p>
        </p:txBody>
      </p:sp>
      <p:sp>
        <p:nvSpPr>
          <p:cNvPr id="21" name="Text 19"/>
          <p:cNvSpPr/>
          <p:nvPr/>
        </p:nvSpPr>
        <p:spPr>
          <a:xfrm>
            <a:off x="822960" y="5230368"/>
            <a:ext cx="10543032" cy="219456"/>
          </a:xfrm>
          <a:prstGeom prst="rect">
            <a:avLst/>
          </a:prstGeom>
          <a:noFill/>
          <a:ln/>
        </p:spPr>
        <p:txBody>
          <a:bodyPr wrap="square" lIns="0" tIns="0" rIns="0" bIns="0" rtlCol="0" anchor="ctr"/>
          <a:lstStyle/>
          <a:p>
            <a:pPr marL="0" indent="0">
              <a:buNone/>
            </a:pPr>
            <a:r>
              <a:rPr lang="en-US" sz="900" b="1" kern="0" spc="110" dirty="0">
                <a:solidFill>
                  <a:srgbClr val="7C4DE8"/>
                </a:solidFill>
                <a:latin typeface="Consolas" pitchFamily="34" charset="0"/>
                <a:ea typeface="Consolas" pitchFamily="34" charset="-122"/>
                <a:cs typeface="Consolas" pitchFamily="34" charset="-120"/>
              </a:rPr>
              <a:t>MAKE SURE YOUR ANSWER COVERS</a:t>
            </a:r>
            <a:endParaRPr lang="en-US" sz="900" dirty="0"/>
          </a:p>
        </p:txBody>
      </p:sp>
      <p:sp>
        <p:nvSpPr>
          <p:cNvPr id="22" name="Shape 20"/>
          <p:cNvSpPr/>
          <p:nvPr/>
        </p:nvSpPr>
        <p:spPr>
          <a:xfrm>
            <a:off x="822960" y="5596128"/>
            <a:ext cx="91440" cy="91440"/>
          </a:xfrm>
          <a:prstGeom prst="rect">
            <a:avLst/>
          </a:prstGeom>
          <a:solidFill>
            <a:srgbClr val="7C4DE8"/>
          </a:solidFill>
          <a:ln/>
        </p:spPr>
        <p:txBody>
          <a:bodyPr/>
          <a:lstStyle/>
          <a:p>
            <a:endParaRPr lang="en-IN"/>
          </a:p>
        </p:txBody>
      </p:sp>
      <p:sp>
        <p:nvSpPr>
          <p:cNvPr id="23" name="Text 21"/>
          <p:cNvSpPr/>
          <p:nvPr/>
        </p:nvSpPr>
        <p:spPr>
          <a:xfrm>
            <a:off x="1042416"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Author, title and year for papers</a:t>
            </a:r>
            <a:endParaRPr lang="en-US" sz="1100" dirty="0"/>
          </a:p>
        </p:txBody>
      </p:sp>
      <p:sp>
        <p:nvSpPr>
          <p:cNvPr id="24" name="Shape 22"/>
          <p:cNvSpPr/>
          <p:nvPr/>
        </p:nvSpPr>
        <p:spPr>
          <a:xfrm>
            <a:off x="3527298" y="5596128"/>
            <a:ext cx="91440" cy="91440"/>
          </a:xfrm>
          <a:prstGeom prst="rect">
            <a:avLst/>
          </a:prstGeom>
          <a:solidFill>
            <a:srgbClr val="7C4DE8"/>
          </a:solidFill>
          <a:ln/>
        </p:spPr>
        <p:txBody>
          <a:bodyPr/>
          <a:lstStyle/>
          <a:p>
            <a:endParaRPr lang="en-IN"/>
          </a:p>
        </p:txBody>
      </p:sp>
      <p:sp>
        <p:nvSpPr>
          <p:cNvPr id="25" name="Text 23"/>
          <p:cNvSpPr/>
          <p:nvPr/>
        </p:nvSpPr>
        <p:spPr>
          <a:xfrm>
            <a:off x="3746754"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What each source gave you</a:t>
            </a:r>
            <a:endParaRPr lang="en-US" sz="1100" dirty="0"/>
          </a:p>
        </p:txBody>
      </p:sp>
      <p:sp>
        <p:nvSpPr>
          <p:cNvPr id="26" name="Shape 24"/>
          <p:cNvSpPr/>
          <p:nvPr/>
        </p:nvSpPr>
        <p:spPr>
          <a:xfrm>
            <a:off x="6231636" y="5596128"/>
            <a:ext cx="91440" cy="91440"/>
          </a:xfrm>
          <a:prstGeom prst="rect">
            <a:avLst/>
          </a:prstGeom>
          <a:solidFill>
            <a:srgbClr val="7C4DE8"/>
          </a:solidFill>
          <a:ln/>
        </p:spPr>
        <p:txBody>
          <a:bodyPr/>
          <a:lstStyle/>
          <a:p>
            <a:endParaRPr lang="en-IN"/>
          </a:p>
        </p:txBody>
      </p:sp>
      <p:sp>
        <p:nvSpPr>
          <p:cNvPr id="27" name="Text 25"/>
          <p:cNvSpPr/>
          <p:nvPr/>
        </p:nvSpPr>
        <p:spPr>
          <a:xfrm>
            <a:off x="6451092"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What is borrowed vs what is yours</a:t>
            </a:r>
            <a:endParaRPr lang="en-US" sz="1100" dirty="0"/>
          </a:p>
        </p:txBody>
      </p:sp>
      <p:sp>
        <p:nvSpPr>
          <p:cNvPr id="28" name="Shape 26"/>
          <p:cNvSpPr/>
          <p:nvPr/>
        </p:nvSpPr>
        <p:spPr>
          <a:xfrm>
            <a:off x="8935974" y="5596128"/>
            <a:ext cx="91440" cy="91440"/>
          </a:xfrm>
          <a:prstGeom prst="rect">
            <a:avLst/>
          </a:prstGeom>
          <a:solidFill>
            <a:srgbClr val="7C4DE8"/>
          </a:solidFill>
          <a:ln/>
        </p:spPr>
        <p:txBody>
          <a:bodyPr/>
          <a:lstStyle/>
          <a:p>
            <a:endParaRPr lang="en-IN"/>
          </a:p>
        </p:txBody>
      </p:sp>
      <p:sp>
        <p:nvSpPr>
          <p:cNvPr id="29" name="Text 27"/>
          <p:cNvSpPr/>
          <p:nvPr/>
        </p:nvSpPr>
        <p:spPr>
          <a:xfrm>
            <a:off x="9155430"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Dataset and model licences</a:t>
            </a:r>
            <a:endParaRPr lang="en-US" sz="1100" dirty="0"/>
          </a:p>
        </p:txBody>
      </p:sp>
      <p:sp>
        <p:nvSpPr>
          <p:cNvPr id="30" name="Text 28"/>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1" name="Text 29"/>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07</a:t>
            </a:r>
            <a:r>
              <a:rPr lang="en-US" sz="900" dirty="0">
                <a:solidFill>
                  <a:srgbClr val="9AA3AE"/>
                </a:solidFill>
                <a:latin typeface="Consolas" pitchFamily="34" charset="0"/>
                <a:ea typeface="Consolas" pitchFamily="34" charset="-122"/>
                <a:cs typeface="Consolas" pitchFamily="34" charset="-120"/>
              </a:rPr>
              <a:t> / 07</a:t>
            </a:r>
            <a:endParaRPr lang="en-US" sz="900" dirty="0"/>
          </a:p>
        </p:txBody>
      </p:sp>
      <p:sp>
        <p:nvSpPr>
          <p:cNvPr id="32" name="Shape 30"/>
          <p:cNvSpPr/>
          <p:nvPr/>
        </p:nvSpPr>
        <p:spPr>
          <a:xfrm>
            <a:off x="11722608" y="6391656"/>
            <a:ext cx="173736" cy="173736"/>
          </a:xfrm>
          <a:prstGeom prst="rect">
            <a:avLst/>
          </a:prstGeom>
          <a:solidFill>
            <a:srgbClr val="7C4DE8"/>
          </a:solidFill>
          <a:ln/>
        </p:spPr>
        <p:txBody>
          <a:bodyPr/>
          <a:lstStyle/>
          <a:p>
            <a:endParaRPr lang="en-IN"/>
          </a:p>
        </p:txBody>
      </p:sp>
      <p:sp>
        <p:nvSpPr>
          <p:cNvPr id="33" name="Shape 31"/>
          <p:cNvSpPr/>
          <p:nvPr/>
        </p:nvSpPr>
        <p:spPr>
          <a:xfrm>
            <a:off x="11769517" y="6438565"/>
            <a:ext cx="79919" cy="79919"/>
          </a:xfrm>
          <a:prstGeom prst="rect">
            <a:avLst/>
          </a:prstGeom>
          <a:solidFill>
            <a:srgbClr val="FFFFFF"/>
          </a:solidFill>
          <a:ln/>
        </p:spPr>
        <p:txBody>
          <a:bodyPr/>
          <a:lstStyle/>
          <a:p>
            <a:endParaRPr lang="en-IN"/>
          </a:p>
        </p:txBody>
      </p:sp>
      <p:sp>
        <p:nvSpPr>
          <p:cNvPr id="34" name="Shape 32"/>
          <p:cNvSpPr/>
          <p:nvPr/>
        </p:nvSpPr>
        <p:spPr>
          <a:xfrm>
            <a:off x="11752143" y="6356909"/>
            <a:ext cx="29535" cy="34747"/>
          </a:xfrm>
          <a:prstGeom prst="rect">
            <a:avLst/>
          </a:prstGeom>
          <a:solidFill>
            <a:srgbClr val="7C4DE8"/>
          </a:solidFill>
          <a:ln/>
        </p:spPr>
        <p:txBody>
          <a:bodyPr/>
          <a:lstStyle/>
          <a:p>
            <a:endParaRPr lang="en-IN"/>
          </a:p>
        </p:txBody>
      </p:sp>
      <p:sp>
        <p:nvSpPr>
          <p:cNvPr id="35" name="Shape 33"/>
          <p:cNvSpPr/>
          <p:nvPr/>
        </p:nvSpPr>
        <p:spPr>
          <a:xfrm>
            <a:off x="11752143" y="6565392"/>
            <a:ext cx="29535" cy="34747"/>
          </a:xfrm>
          <a:prstGeom prst="rect">
            <a:avLst/>
          </a:prstGeom>
          <a:solidFill>
            <a:srgbClr val="7C4DE8"/>
          </a:solidFill>
          <a:ln/>
        </p:spPr>
        <p:txBody>
          <a:bodyPr/>
          <a:lstStyle/>
          <a:p>
            <a:endParaRPr lang="en-IN"/>
          </a:p>
        </p:txBody>
      </p:sp>
      <p:sp>
        <p:nvSpPr>
          <p:cNvPr id="36" name="Shape 34"/>
          <p:cNvSpPr/>
          <p:nvPr/>
        </p:nvSpPr>
        <p:spPr>
          <a:xfrm>
            <a:off x="11687861" y="6421191"/>
            <a:ext cx="34747" cy="29535"/>
          </a:xfrm>
          <a:prstGeom prst="rect">
            <a:avLst/>
          </a:prstGeom>
          <a:solidFill>
            <a:srgbClr val="7C4DE8"/>
          </a:solidFill>
          <a:ln/>
        </p:spPr>
        <p:txBody>
          <a:bodyPr/>
          <a:lstStyle/>
          <a:p>
            <a:endParaRPr lang="en-IN"/>
          </a:p>
        </p:txBody>
      </p:sp>
      <p:sp>
        <p:nvSpPr>
          <p:cNvPr id="37" name="Shape 35"/>
          <p:cNvSpPr/>
          <p:nvPr/>
        </p:nvSpPr>
        <p:spPr>
          <a:xfrm>
            <a:off x="11896344" y="6421191"/>
            <a:ext cx="34747" cy="29535"/>
          </a:xfrm>
          <a:prstGeom prst="rect">
            <a:avLst/>
          </a:prstGeom>
          <a:solidFill>
            <a:srgbClr val="7C4DE8"/>
          </a:solidFill>
          <a:ln/>
        </p:spPr>
        <p:txBody>
          <a:bodyPr/>
          <a:lstStyle/>
          <a:p>
            <a:endParaRPr lang="en-IN"/>
          </a:p>
        </p:txBody>
      </p:sp>
      <p:sp>
        <p:nvSpPr>
          <p:cNvPr id="38" name="Shape 36"/>
          <p:cNvSpPr/>
          <p:nvPr/>
        </p:nvSpPr>
        <p:spPr>
          <a:xfrm>
            <a:off x="11837274" y="6356909"/>
            <a:ext cx="29535" cy="34747"/>
          </a:xfrm>
          <a:prstGeom prst="rect">
            <a:avLst/>
          </a:prstGeom>
          <a:solidFill>
            <a:srgbClr val="7C4DE8"/>
          </a:solidFill>
          <a:ln/>
        </p:spPr>
        <p:txBody>
          <a:bodyPr/>
          <a:lstStyle/>
          <a:p>
            <a:endParaRPr lang="en-IN"/>
          </a:p>
        </p:txBody>
      </p:sp>
      <p:sp>
        <p:nvSpPr>
          <p:cNvPr id="39" name="Shape 37"/>
          <p:cNvSpPr/>
          <p:nvPr/>
        </p:nvSpPr>
        <p:spPr>
          <a:xfrm>
            <a:off x="11837274" y="6565392"/>
            <a:ext cx="29535" cy="34747"/>
          </a:xfrm>
          <a:prstGeom prst="rect">
            <a:avLst/>
          </a:prstGeom>
          <a:solidFill>
            <a:srgbClr val="7C4DE8"/>
          </a:solidFill>
          <a:ln/>
        </p:spPr>
        <p:txBody>
          <a:bodyPr/>
          <a:lstStyle/>
          <a:p>
            <a:endParaRPr lang="en-IN"/>
          </a:p>
        </p:txBody>
      </p:sp>
      <p:sp>
        <p:nvSpPr>
          <p:cNvPr id="40" name="Shape 38"/>
          <p:cNvSpPr/>
          <p:nvPr/>
        </p:nvSpPr>
        <p:spPr>
          <a:xfrm>
            <a:off x="11687861" y="6506322"/>
            <a:ext cx="34747" cy="29535"/>
          </a:xfrm>
          <a:prstGeom prst="rect">
            <a:avLst/>
          </a:prstGeom>
          <a:solidFill>
            <a:srgbClr val="7C4DE8"/>
          </a:solidFill>
          <a:ln/>
        </p:spPr>
        <p:txBody>
          <a:bodyPr/>
          <a:lstStyle/>
          <a:p>
            <a:endParaRPr lang="en-IN"/>
          </a:p>
        </p:txBody>
      </p:sp>
      <p:sp>
        <p:nvSpPr>
          <p:cNvPr id="41" name="Shape 39"/>
          <p:cNvSpPr/>
          <p:nvPr/>
        </p:nvSpPr>
        <p:spPr>
          <a:xfrm>
            <a:off x="11896344" y="6506322"/>
            <a:ext cx="34747" cy="29535"/>
          </a:xfrm>
          <a:prstGeom prst="rect">
            <a:avLst/>
          </a:prstGeom>
          <a:solidFill>
            <a:srgbClr val="7C4DE8"/>
          </a:solidFill>
          <a:ln/>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865</Words>
  <Application>Microsoft Office PowerPoint</Application>
  <PresentationFormat>Widescreen</PresentationFormat>
  <Paragraphs>142</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Arial Black</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AWS Student Builder Groups, VIT Chennai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FRONTIER 2026 - Submission Template</dc:title>
  <dc:subject>PptxGenJS Presentation</dc:subject>
  <dc:creator>AWS Student Builder Groups - VIT Chennai</dc:creator>
  <cp:lastModifiedBy>Srishanth</cp:lastModifiedBy>
  <cp:revision>1</cp:revision>
  <dcterms:created xsi:type="dcterms:W3CDTF">2026-07-27T09:18:57Z</dcterms:created>
  <dcterms:modified xsi:type="dcterms:W3CDTF">2026-07-27T16:15:09Z</dcterms:modified>
</cp:coreProperties>
</file>